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17"/>
  </p:notesMasterIdLst>
  <p:handoutMasterIdLst>
    <p:handoutMasterId r:id="rId18"/>
  </p:handoutMasterIdLst>
  <p:sldIdLst>
    <p:sldId id="318" r:id="rId3"/>
    <p:sldId id="321" r:id="rId4"/>
    <p:sldId id="349" r:id="rId5"/>
    <p:sldId id="357" r:id="rId6"/>
    <p:sldId id="350" r:id="rId7"/>
    <p:sldId id="360" r:id="rId8"/>
    <p:sldId id="372" r:id="rId9"/>
    <p:sldId id="373" r:id="rId10"/>
    <p:sldId id="375" r:id="rId11"/>
    <p:sldId id="351" r:id="rId12"/>
    <p:sldId id="368" r:id="rId13"/>
    <p:sldId id="380" r:id="rId14"/>
    <p:sldId id="352" r:id="rId15"/>
    <p:sldId id="294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32" d="100"/>
          <a:sy n="132" d="100"/>
        </p:scale>
        <p:origin x="1852" y="6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5/15/2024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969" y="3846209"/>
            <a:ext cx="8212886" cy="1102519"/>
          </a:xfrm>
        </p:spPr>
        <p:txBody>
          <a:bodyPr/>
          <a:lstStyle/>
          <a:p>
            <a:r>
              <a:rPr lang="en-US" dirty="0"/>
              <a:t>Intel Maker’s ESP32 course – </a:t>
            </a:r>
            <a:br>
              <a:rPr lang="en-US" dirty="0"/>
            </a:br>
            <a:r>
              <a:rPr lang="en-US" dirty="0"/>
              <a:t>by intel’s makers community</a:t>
            </a:r>
            <a:br>
              <a:rPr lang="en-US" dirty="0"/>
            </a:br>
            <a:r>
              <a:rPr lang="en-US" dirty="0"/>
              <a:t>class 4 – LCD hands 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Jun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Class 4 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Briefly go back: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On graphics fundamentals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Our LCD and its connection to the ESP32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Driver structure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Our LCD driver (</a:t>
            </a:r>
            <a:r>
              <a:rPr lang="en-US" sz="1600" dirty="0" err="1"/>
              <a:t>graphics.h</a:t>
            </a:r>
            <a:r>
              <a:rPr lang="en-US" sz="1600" dirty="0"/>
              <a:t>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TV out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LAB </a:t>
            </a:r>
            <a:r>
              <a:rPr lang="en-US" sz="1600" dirty="0">
                <a:sym typeface="Wingdings" panose="05000000000000000000" pitchFamily="2" charset="2"/>
              </a:rPr>
              <a:t>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Basic operation of the LCD in both modes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Flappy Bird game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83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0407B-AE93-40B8-9070-2996242D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8D2214-C5FA-4FD4-921F-95001966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9222"/>
          </a:xfrm>
        </p:spPr>
        <p:txBody>
          <a:bodyPr/>
          <a:lstStyle/>
          <a:p>
            <a:r>
              <a:rPr lang="en-US" dirty="0"/>
              <a:t>Animation basics…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AA680-27D1-4EC8-B58D-0A75BF03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" y="894887"/>
            <a:ext cx="4050136" cy="161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7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52199-9B41-445F-BB18-79350FB9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61EAC4-4198-4BDD-8C7C-1DB2FD54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3610"/>
          </a:xfrm>
        </p:spPr>
        <p:txBody>
          <a:bodyPr/>
          <a:lstStyle/>
          <a:p>
            <a:r>
              <a:rPr lang="en-US" dirty="0"/>
              <a:t>Basic graphics controller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F2AFD-8DCD-4CA7-881E-1BB1825AA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854" y="796031"/>
            <a:ext cx="3269023" cy="192766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693CCE-E5AB-4867-BA40-89ACE88E5A92}"/>
              </a:ext>
            </a:extLst>
          </p:cNvPr>
          <p:cNvSpPr/>
          <p:nvPr/>
        </p:nvSpPr>
        <p:spPr>
          <a:xfrm>
            <a:off x="2610035" y="1177771"/>
            <a:ext cx="2503502" cy="1393979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Graphics controller</a:t>
            </a:r>
          </a:p>
          <a:p>
            <a:pPr algn="ctr"/>
            <a:r>
              <a:rPr lang="en-US" dirty="0"/>
              <a:t>(In our case – ST7789)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5045C2-C62D-4A27-995F-8673DB7817F2}"/>
              </a:ext>
            </a:extLst>
          </p:cNvPr>
          <p:cNvSpPr/>
          <p:nvPr/>
        </p:nvSpPr>
        <p:spPr>
          <a:xfrm>
            <a:off x="798990" y="958880"/>
            <a:ext cx="1328691" cy="183176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Graphics</a:t>
            </a:r>
          </a:p>
          <a:p>
            <a:pPr algn="ctr"/>
            <a:r>
              <a:rPr lang="en-US" dirty="0"/>
              <a:t>Memory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5D8C495-339B-4524-90D8-ECFF2D511880}"/>
              </a:ext>
            </a:extLst>
          </p:cNvPr>
          <p:cNvSpPr/>
          <p:nvPr/>
        </p:nvSpPr>
        <p:spPr>
          <a:xfrm>
            <a:off x="5113537" y="1759865"/>
            <a:ext cx="491231" cy="19072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62CB2FC9-D5A2-4C96-8AB5-09BA34F03399}"/>
              </a:ext>
            </a:extLst>
          </p:cNvPr>
          <p:cNvSpPr/>
          <p:nvPr/>
        </p:nvSpPr>
        <p:spPr>
          <a:xfrm>
            <a:off x="2127682" y="1759864"/>
            <a:ext cx="482354" cy="19072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306C4C7C-289D-4ED1-B3E7-9AD4C3F4429A}"/>
              </a:ext>
            </a:extLst>
          </p:cNvPr>
          <p:cNvSpPr/>
          <p:nvPr/>
        </p:nvSpPr>
        <p:spPr>
          <a:xfrm rot="5400000">
            <a:off x="3638255" y="2729311"/>
            <a:ext cx="505842" cy="19072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5B12D-6688-4203-8C66-72E04134EBA3}"/>
              </a:ext>
            </a:extLst>
          </p:cNvPr>
          <p:cNvSpPr txBox="1"/>
          <p:nvPr/>
        </p:nvSpPr>
        <p:spPr>
          <a:xfrm>
            <a:off x="3240350" y="3086471"/>
            <a:ext cx="204186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Interface to host</a:t>
            </a:r>
          </a:p>
          <a:p>
            <a:r>
              <a:rPr lang="en-US" sz="1100" dirty="0">
                <a:solidFill>
                  <a:srgbClr val="003C71"/>
                </a:solidFill>
              </a:rPr>
              <a:t>PCIe, SPI, I2C,UART, Parallel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7BADE-A05C-41FA-A5EC-4FE9D1E5FA8B}"/>
              </a:ext>
            </a:extLst>
          </p:cNvPr>
          <p:cNvSpPr txBox="1"/>
          <p:nvPr/>
        </p:nvSpPr>
        <p:spPr>
          <a:xfrm>
            <a:off x="455613" y="3611224"/>
            <a:ext cx="3737606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Memory structure: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Array of: RGB,RGB,RGB …. Or (ARGB,ARGB,ARGB…)</a:t>
            </a:r>
          </a:p>
          <a:p>
            <a:r>
              <a:rPr lang="en-US" sz="1100" dirty="0">
                <a:solidFill>
                  <a:srgbClr val="003C71"/>
                </a:solidFill>
              </a:rPr>
              <a:t>32, 24, 18, 16, or 3 bit per pixel (8888, 888, 666, 565, 111)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FDC26-0ED8-45FA-8C58-E1350261057D}"/>
              </a:ext>
            </a:extLst>
          </p:cNvPr>
          <p:cNvSpPr txBox="1"/>
          <p:nvPr/>
        </p:nvSpPr>
        <p:spPr>
          <a:xfrm>
            <a:off x="964707" y="1115627"/>
            <a:ext cx="423169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RGB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B9CA033-2CDE-40F4-8125-CB343EF1F37E}"/>
              </a:ext>
            </a:extLst>
          </p:cNvPr>
          <p:cNvCxnSpPr/>
          <p:nvPr/>
        </p:nvCxnSpPr>
        <p:spPr>
          <a:xfrm flipV="1">
            <a:off x="1174812" y="958880"/>
            <a:ext cx="4542407" cy="156747"/>
          </a:xfrm>
          <a:prstGeom prst="curved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F1D72-78C4-47A2-BFA0-72B923C7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5B360A-12EF-41F9-B466-8AECE029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13613"/>
            <a:ext cx="8229600" cy="339222"/>
          </a:xfrm>
        </p:spPr>
        <p:txBody>
          <a:bodyPr/>
          <a:lstStyle/>
          <a:p>
            <a:r>
              <a:rPr lang="en-US" dirty="0"/>
              <a:t>Few main technics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27AFE-3562-42B2-91EA-FE917E9C1E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46100"/>
            <a:ext cx="8228012" cy="408305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Option 1:</a:t>
            </a:r>
            <a:r>
              <a:rPr lang="en-US" sz="1600" dirty="0"/>
              <a:t> Use one frame, just erase and draw what ever is needed, do it fast enough and it will look 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Option 2: </a:t>
            </a:r>
            <a:r>
              <a:rPr lang="en-US" sz="1600" dirty="0"/>
              <a:t>Use a scratch frame buffer, for each scene: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Erase the frame buffer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Draw the new scene 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Send the new scene to the video controller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We need a frame rate greater than 30 to have smooth animation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Option 3:</a:t>
            </a:r>
            <a:r>
              <a:rPr lang="en-US" sz="1600" dirty="0"/>
              <a:t> Combination of options 1 and 2 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Use frame buffer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just erase and draw what ever is needed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Send the frame to the video controller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825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4C06C3-7086-4457-A839-57165781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7F766E-CEAA-4B1E-91BD-7294EABE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Mapping the LCD of our platform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AE080-D33C-4830-AAC5-0AAD828973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92547"/>
            <a:ext cx="8228012" cy="39366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general mistakes in connectivity can damage a board!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for physical connectivity must be available for 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Interface used by the LCD is SPI: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MOSI – Master out slave in (drive data from ESP32 to the LCD)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Clock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CS – Chip Select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Reset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Out of spec signal - CMD\Data , distinguish between data or command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for the specific I/</a:t>
            </a:r>
            <a:r>
              <a:rPr lang="en-US" sz="1600" dirty="0" err="1"/>
              <a:t>Os</a:t>
            </a:r>
            <a:r>
              <a:rPr lang="en-US" sz="1600" dirty="0"/>
              <a:t> used is in the schematic of the ESP32 TTGO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Graphics.h</a:t>
            </a:r>
            <a:r>
              <a:rPr lang="en-US" sz="1600" dirty="0"/>
              <a:t> is a general LCD\TV out driver that supports the platform’s ST7789 device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Small porting is needed</a:t>
            </a:r>
          </a:p>
        </p:txBody>
      </p:sp>
    </p:spTree>
    <p:extLst>
      <p:ext uri="{BB962C8B-B14F-4D97-AF65-F5344CB8AC3E}">
        <p14:creationId xmlns:p14="http://schemas.microsoft.com/office/powerpoint/2010/main" val="130361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13421-76C8-411E-9029-CE558B09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07157-201E-4BD5-B729-C4E6DA26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77" y="873978"/>
            <a:ext cx="3467944" cy="2866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2A814-E195-4DB6-97FA-65E9ACCDF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213" y="724122"/>
            <a:ext cx="4161361" cy="3158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27EF45-85A0-4248-BD45-8708EACA43EB}"/>
              </a:ext>
            </a:extLst>
          </p:cNvPr>
          <p:cNvSpPr txBox="1"/>
          <p:nvPr/>
        </p:nvSpPr>
        <p:spPr>
          <a:xfrm>
            <a:off x="1737358" y="1949310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SPI-MOSI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3CC4B-AF00-40DE-B3A5-8B5D324A031B}"/>
              </a:ext>
            </a:extLst>
          </p:cNvPr>
          <p:cNvSpPr txBox="1"/>
          <p:nvPr/>
        </p:nvSpPr>
        <p:spPr>
          <a:xfrm>
            <a:off x="1737359" y="2053652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SPI Clock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6EB85-560F-4269-B47E-21EFFF23BA4C}"/>
              </a:ext>
            </a:extLst>
          </p:cNvPr>
          <p:cNvSpPr txBox="1"/>
          <p:nvPr/>
        </p:nvSpPr>
        <p:spPr>
          <a:xfrm>
            <a:off x="1737359" y="2158583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Data\CMD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08753-5636-4EE0-90CF-4B464EF756D7}"/>
              </a:ext>
            </a:extLst>
          </p:cNvPr>
          <p:cNvSpPr txBox="1"/>
          <p:nvPr/>
        </p:nvSpPr>
        <p:spPr>
          <a:xfrm>
            <a:off x="1737357" y="2367856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Chip Select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10444-EE0B-4412-8C31-6291FFB7549E}"/>
              </a:ext>
            </a:extLst>
          </p:cNvPr>
          <p:cNvSpPr txBox="1"/>
          <p:nvPr/>
        </p:nvSpPr>
        <p:spPr>
          <a:xfrm>
            <a:off x="506668" y="200868"/>
            <a:ext cx="3705568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003C71"/>
                </a:solidFill>
              </a:rPr>
              <a:t>ESP32 TTGO module schematic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831D3-4572-4A8D-ADA8-69F29D1007C3}"/>
              </a:ext>
            </a:extLst>
          </p:cNvPr>
          <p:cNvSpPr txBox="1"/>
          <p:nvPr/>
        </p:nvSpPr>
        <p:spPr>
          <a:xfrm>
            <a:off x="5330503" y="491782"/>
            <a:ext cx="98335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158543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D3B54-5116-4D3A-9821-40A555A0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F314E-F06D-4E47-9B2B-A30E6651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3717"/>
          </a:xfrm>
        </p:spPr>
        <p:txBody>
          <a:bodyPr/>
          <a:lstStyle/>
          <a:p>
            <a:r>
              <a:rPr lang="en-US" dirty="0"/>
              <a:t>Device driver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BC49B-D9C6-4F23-8F8D-461194E2C6C2}"/>
              </a:ext>
            </a:extLst>
          </p:cNvPr>
          <p:cNvSpPr/>
          <p:nvPr/>
        </p:nvSpPr>
        <p:spPr>
          <a:xfrm>
            <a:off x="1834797" y="887419"/>
            <a:ext cx="1472034" cy="154698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 Controller</a:t>
            </a:r>
          </a:p>
          <a:p>
            <a:pPr algn="ctr"/>
            <a:r>
              <a:rPr lang="en-US" dirty="0"/>
              <a:t>(ESP32)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F8C39-B7E2-4899-8772-DBAFB475AAB1}"/>
              </a:ext>
            </a:extLst>
          </p:cNvPr>
          <p:cNvSpPr/>
          <p:nvPr/>
        </p:nvSpPr>
        <p:spPr>
          <a:xfrm>
            <a:off x="5468412" y="887418"/>
            <a:ext cx="1472034" cy="154698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Device</a:t>
            </a:r>
          </a:p>
          <a:p>
            <a:pPr algn="ctr"/>
            <a:r>
              <a:rPr lang="en-US" dirty="0"/>
              <a:t>(LCD for Example)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6FA37-30A9-42FB-8B73-62C383ADA2B4}"/>
              </a:ext>
            </a:extLst>
          </p:cNvPr>
          <p:cNvSpPr/>
          <p:nvPr/>
        </p:nvSpPr>
        <p:spPr>
          <a:xfrm>
            <a:off x="3431249" y="887419"/>
            <a:ext cx="1912745" cy="154698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Enable us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Utilize the device’s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Initialize the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F971A-D1FA-4F31-A253-8AA5628EC4B8}"/>
              </a:ext>
            </a:extLst>
          </p:cNvPr>
          <p:cNvSpPr txBox="1"/>
          <p:nvPr/>
        </p:nvSpPr>
        <p:spPr>
          <a:xfrm>
            <a:off x="3431248" y="572833"/>
            <a:ext cx="1912745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dirty="0"/>
              <a:t>Device Driver</a:t>
            </a:r>
          </a:p>
          <a:p>
            <a:pPr algn="ctr"/>
            <a:endParaRPr lang="en-US" dirty="0" err="1">
              <a:solidFill>
                <a:srgbClr val="003C7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C1D73-7917-4CD7-9C4F-F366B0103A84}"/>
              </a:ext>
            </a:extLst>
          </p:cNvPr>
          <p:cNvSpPr txBox="1"/>
          <p:nvPr/>
        </p:nvSpPr>
        <p:spPr>
          <a:xfrm>
            <a:off x="3431248" y="3113241"/>
            <a:ext cx="1912745" cy="830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dirty="0"/>
              <a:t>Device Driver</a:t>
            </a:r>
          </a:p>
          <a:p>
            <a:pPr algn="ctr"/>
            <a:r>
              <a:rPr lang="en-US" dirty="0"/>
              <a:t>SW structure</a:t>
            </a:r>
          </a:p>
          <a:p>
            <a:pPr algn="ctr"/>
            <a:endParaRPr lang="en-US" dirty="0" err="1">
              <a:solidFill>
                <a:srgbClr val="003C7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4AFAC-D758-42B1-9C41-03280211D87D}"/>
              </a:ext>
            </a:extLst>
          </p:cNvPr>
          <p:cNvSpPr/>
          <p:nvPr/>
        </p:nvSpPr>
        <p:spPr>
          <a:xfrm>
            <a:off x="3431248" y="3729553"/>
            <a:ext cx="1866277" cy="311795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D07EA7-B1A9-44CA-9084-73D3E8209A1B}"/>
              </a:ext>
            </a:extLst>
          </p:cNvPr>
          <p:cNvSpPr/>
          <p:nvPr/>
        </p:nvSpPr>
        <p:spPr>
          <a:xfrm>
            <a:off x="3431248" y="4041348"/>
            <a:ext cx="1866277" cy="311795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B57E3-D2D3-4B86-BB08-50EDA5C45D70}"/>
              </a:ext>
            </a:extLst>
          </p:cNvPr>
          <p:cNvSpPr txBox="1"/>
          <p:nvPr/>
        </p:nvSpPr>
        <p:spPr>
          <a:xfrm>
            <a:off x="5375474" y="3800811"/>
            <a:ext cx="1912745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H</a:t>
            </a:r>
            <a:r>
              <a:rPr lang="en-US" sz="1100" dirty="0">
                <a:solidFill>
                  <a:srgbClr val="003C71"/>
                </a:solidFill>
              </a:rPr>
              <a:t>ardware </a:t>
            </a:r>
            <a:r>
              <a:rPr lang="en-US" sz="1100" b="1" dirty="0">
                <a:solidFill>
                  <a:srgbClr val="003C71"/>
                </a:solidFill>
              </a:rPr>
              <a:t>A</a:t>
            </a:r>
            <a:r>
              <a:rPr lang="en-US" sz="1100" dirty="0">
                <a:solidFill>
                  <a:srgbClr val="003C71"/>
                </a:solidFill>
              </a:rPr>
              <a:t>bstraction </a:t>
            </a:r>
            <a:r>
              <a:rPr lang="en-US" sz="1100" b="1" dirty="0">
                <a:solidFill>
                  <a:srgbClr val="003C71"/>
                </a:solidFill>
              </a:rPr>
              <a:t>L</a:t>
            </a:r>
            <a:r>
              <a:rPr lang="en-US" sz="1100" dirty="0">
                <a:solidFill>
                  <a:srgbClr val="003C71"/>
                </a:solidFill>
              </a:rPr>
              <a:t>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63E13-E17E-4DA0-BCB8-EB9DFEEE3377}"/>
              </a:ext>
            </a:extLst>
          </p:cNvPr>
          <p:cNvSpPr txBox="1"/>
          <p:nvPr/>
        </p:nvSpPr>
        <p:spPr>
          <a:xfrm>
            <a:off x="5375474" y="4011369"/>
            <a:ext cx="234446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A</a:t>
            </a:r>
            <a:r>
              <a:rPr lang="en-US" sz="1100" dirty="0">
                <a:solidFill>
                  <a:srgbClr val="003C71"/>
                </a:solidFill>
              </a:rPr>
              <a:t>pplication</a:t>
            </a:r>
            <a:r>
              <a:rPr lang="en-US" dirty="0"/>
              <a:t> </a:t>
            </a:r>
            <a:r>
              <a:rPr lang="en-US" sz="1100" b="1" dirty="0">
                <a:solidFill>
                  <a:srgbClr val="003C71"/>
                </a:solidFill>
              </a:rPr>
              <a:t>P</a:t>
            </a:r>
            <a:r>
              <a:rPr lang="en-US" sz="1100" dirty="0">
                <a:solidFill>
                  <a:srgbClr val="003C71"/>
                </a:solidFill>
              </a:rPr>
              <a:t>rogramming </a:t>
            </a:r>
            <a:r>
              <a:rPr lang="en-US" sz="1100" b="1" dirty="0">
                <a:solidFill>
                  <a:srgbClr val="003C71"/>
                </a:solidFill>
              </a:rPr>
              <a:t>I</a:t>
            </a:r>
            <a:r>
              <a:rPr lang="en-US" sz="1100" dirty="0">
                <a:solidFill>
                  <a:srgbClr val="003C71"/>
                </a:solidFill>
              </a:rPr>
              <a:t>nterface</a:t>
            </a:r>
          </a:p>
        </p:txBody>
      </p:sp>
    </p:spTree>
    <p:extLst>
      <p:ext uri="{BB962C8B-B14F-4D97-AF65-F5344CB8AC3E}">
        <p14:creationId xmlns:p14="http://schemas.microsoft.com/office/powerpoint/2010/main" val="275973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CA79A-49F8-4B8E-A4A8-30EC95F6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DADBF-D4F1-4E79-83A8-045D29E3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977"/>
          </a:xfrm>
        </p:spPr>
        <p:txBody>
          <a:bodyPr/>
          <a:lstStyle/>
          <a:p>
            <a:r>
              <a:rPr lang="en-US" dirty="0"/>
              <a:t>Our LCD – ST7789 based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A2FB9-9656-46B9-B579-C50DF802E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6133"/>
            <a:ext cx="8228012" cy="391301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SPI running at 40MHz one bit, with additional Command\Data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Resolution: 240x135 or 135x240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RGB565 (64K colors): 72 FPS for full screen refresh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Two bytes per pixel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operation modes: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Local frame buffer in ESP32’s memory + LCD’s frame buffer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One frame buffer within the LCD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50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CA79A-49F8-4B8E-A4A8-30EC95F6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DADBF-D4F1-4E79-83A8-045D29E3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977"/>
          </a:xfrm>
        </p:spPr>
        <p:txBody>
          <a:bodyPr/>
          <a:lstStyle/>
          <a:p>
            <a:r>
              <a:rPr lang="en-US" dirty="0"/>
              <a:t>ESP32 and the LCD\TV out block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C2C62D-9CBF-46F4-8238-9F03427708D6}"/>
              </a:ext>
            </a:extLst>
          </p:cNvPr>
          <p:cNvSpPr/>
          <p:nvPr/>
        </p:nvSpPr>
        <p:spPr>
          <a:xfrm>
            <a:off x="1639409" y="1003177"/>
            <a:ext cx="1571347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B7C372-F4EB-4B1B-970B-28730BD31E66}"/>
              </a:ext>
            </a:extLst>
          </p:cNvPr>
          <p:cNvSpPr/>
          <p:nvPr/>
        </p:nvSpPr>
        <p:spPr>
          <a:xfrm>
            <a:off x="3749336" y="1003177"/>
            <a:ext cx="1287262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ST7789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C0D06-BFCA-44C8-BB74-06AEBB5211EE}"/>
              </a:ext>
            </a:extLst>
          </p:cNvPr>
          <p:cNvSpPr/>
          <p:nvPr/>
        </p:nvSpPr>
        <p:spPr>
          <a:xfrm>
            <a:off x="3848470" y="1716350"/>
            <a:ext cx="1088994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Frame buffer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B232BB48-94D2-4FE2-A857-DC7644C72490}"/>
              </a:ext>
            </a:extLst>
          </p:cNvPr>
          <p:cNvSpPr/>
          <p:nvPr/>
        </p:nvSpPr>
        <p:spPr>
          <a:xfrm>
            <a:off x="3210757" y="1476652"/>
            <a:ext cx="538579" cy="275208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308C88-DCBE-4D8A-A52C-DB6737690104}"/>
              </a:ext>
            </a:extLst>
          </p:cNvPr>
          <p:cNvSpPr/>
          <p:nvPr/>
        </p:nvSpPr>
        <p:spPr>
          <a:xfrm>
            <a:off x="5575177" y="1003176"/>
            <a:ext cx="1584220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LCD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4158F46C-4935-40F3-88A6-5807953A81AD}"/>
              </a:ext>
            </a:extLst>
          </p:cNvPr>
          <p:cNvSpPr/>
          <p:nvPr/>
        </p:nvSpPr>
        <p:spPr>
          <a:xfrm>
            <a:off x="5036598" y="1476652"/>
            <a:ext cx="538579" cy="275208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D8121-470E-4891-B21F-E921E74363A5}"/>
              </a:ext>
            </a:extLst>
          </p:cNvPr>
          <p:cNvSpPr txBox="1"/>
          <p:nvPr/>
        </p:nvSpPr>
        <p:spPr>
          <a:xfrm>
            <a:off x="1343487" y="730928"/>
            <a:ext cx="604865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RGB565 mode </a:t>
            </a:r>
            <a:r>
              <a:rPr lang="en-US" sz="1100" dirty="0">
                <a:solidFill>
                  <a:srgbClr val="003C71"/>
                </a:solidFill>
              </a:rPr>
              <a:t>– Any write of the graphics drivers access the frame buffer memory directly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8C6B0-9EE4-4C3B-A830-D2AAC171A490}"/>
              </a:ext>
            </a:extLst>
          </p:cNvPr>
          <p:cNvSpPr/>
          <p:nvPr/>
        </p:nvSpPr>
        <p:spPr>
          <a:xfrm>
            <a:off x="2453081" y="2948032"/>
            <a:ext cx="1571347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AF26E561-93AA-4A51-8103-C604E39AAB20}"/>
              </a:ext>
            </a:extLst>
          </p:cNvPr>
          <p:cNvSpPr/>
          <p:nvPr/>
        </p:nvSpPr>
        <p:spPr>
          <a:xfrm>
            <a:off x="4024429" y="3421507"/>
            <a:ext cx="758638" cy="275208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DAC25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CB9A7A-F6E7-4529-A9B0-79E554038D35}"/>
              </a:ext>
            </a:extLst>
          </p:cNvPr>
          <p:cNvSpPr/>
          <p:nvPr/>
        </p:nvSpPr>
        <p:spPr>
          <a:xfrm>
            <a:off x="4783067" y="2948031"/>
            <a:ext cx="1584220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91AC2E-C512-44CB-A7E6-89A974129D4A}"/>
              </a:ext>
            </a:extLst>
          </p:cNvPr>
          <p:cNvSpPr txBox="1"/>
          <p:nvPr/>
        </p:nvSpPr>
        <p:spPr>
          <a:xfrm>
            <a:off x="1343486" y="2442004"/>
            <a:ext cx="6048653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TV Out mode</a:t>
            </a:r>
            <a:r>
              <a:rPr lang="en-US" sz="1100" dirty="0">
                <a:solidFill>
                  <a:srgbClr val="003C71"/>
                </a:solidFill>
              </a:rPr>
              <a:t> – Any write of the graphics drivers access the </a:t>
            </a:r>
            <a:r>
              <a:rPr lang="en-US" sz="1100" b="1" u="sng" dirty="0">
                <a:solidFill>
                  <a:srgbClr val="003C71"/>
                </a:solidFill>
              </a:rPr>
              <a:t>local</a:t>
            </a:r>
            <a:r>
              <a:rPr lang="en-US" sz="1100" dirty="0">
                <a:solidFill>
                  <a:srgbClr val="003C71"/>
                </a:solidFill>
              </a:rPr>
              <a:t> frame buffer</a:t>
            </a:r>
          </a:p>
          <a:p>
            <a:r>
              <a:rPr lang="en-US" sz="1100" dirty="0">
                <a:solidFill>
                  <a:srgbClr val="003C71"/>
                </a:solidFill>
              </a:rPr>
              <a:t>At any time one frame buffer is active and the second is being refreshed directly to the TV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9B0737-4FDA-4220-B1F7-EE86B34B8923}"/>
              </a:ext>
            </a:extLst>
          </p:cNvPr>
          <p:cNvSpPr/>
          <p:nvPr/>
        </p:nvSpPr>
        <p:spPr>
          <a:xfrm>
            <a:off x="2538899" y="3661205"/>
            <a:ext cx="1450020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Local Frame buffer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Memory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E6716-FCB5-4931-9FC8-B12D634B87C7}"/>
              </a:ext>
            </a:extLst>
          </p:cNvPr>
          <p:cNvSpPr/>
          <p:nvPr/>
        </p:nvSpPr>
        <p:spPr>
          <a:xfrm>
            <a:off x="2538899" y="3235076"/>
            <a:ext cx="1450020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Local Frame buffer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Memory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7E3A86-6E11-4669-BF08-36EB68A6D4D5}"/>
              </a:ext>
            </a:extLst>
          </p:cNvPr>
          <p:cNvSpPr/>
          <p:nvPr/>
        </p:nvSpPr>
        <p:spPr>
          <a:xfrm>
            <a:off x="1663908" y="1735688"/>
            <a:ext cx="1496019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Optional Local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Frame buffer</a:t>
            </a:r>
          </a:p>
        </p:txBody>
      </p:sp>
    </p:spTree>
    <p:extLst>
      <p:ext uri="{BB962C8B-B14F-4D97-AF65-F5344CB8AC3E}">
        <p14:creationId xmlns:p14="http://schemas.microsoft.com/office/powerpoint/2010/main" val="245052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C5BFB5-B05E-41E1-BF3B-1C71B4E7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8D23C-7B5A-45FF-BFC6-3CBF5151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6" y="45269"/>
            <a:ext cx="8229600" cy="350719"/>
          </a:xfrm>
        </p:spPr>
        <p:txBody>
          <a:bodyPr/>
          <a:lstStyle/>
          <a:p>
            <a:r>
              <a:rPr lang="en-US" dirty="0"/>
              <a:t>TV Out – Uses DAC25 and I2S0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056-4995-438F-9758-38A2A4486DE8}"/>
              </a:ext>
            </a:extLst>
          </p:cNvPr>
          <p:cNvSpPr txBox="1"/>
          <p:nvPr/>
        </p:nvSpPr>
        <p:spPr>
          <a:xfrm>
            <a:off x="74951" y="395989"/>
            <a:ext cx="9069049" cy="43858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50" dirty="0" err="1">
                <a:solidFill>
                  <a:srgbClr val="A31515"/>
                </a:solidFill>
                <a:latin typeface="Consolas" panose="020B0609020204030204" pitchFamily="49" charset="0"/>
              </a:rPr>
              <a:t>graphics.h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 err="1">
                <a:solidFill>
                  <a:srgbClr val="2B91AF"/>
                </a:solidFill>
                <a:latin typeface="Consolas" panose="020B0609020204030204" pitchFamily="49" charset="0"/>
              </a:rPr>
              <a:t>TVout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compositeCore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95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tvOut.sendFrame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setup()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tvOut.init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xTaskCreatePinnedToCore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compositeCore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950" dirty="0" err="1">
                <a:solidFill>
                  <a:srgbClr val="A31515"/>
                </a:solidFill>
                <a:latin typeface="Consolas" panose="020B0609020204030204" pitchFamily="49" charset="0"/>
              </a:rPr>
              <a:t>tvOutTask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1024, </a:t>
            </a:r>
            <a:r>
              <a:rPr lang="en-US" sz="95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1, </a:t>
            </a:r>
            <a:r>
              <a:rPr lang="en-US" sz="95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0);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loop()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time;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tvOut.fillScr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(0xff, 0xff, 0xff);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tvOut.loadFonts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F4F4F"/>
                </a:solidFill>
                <a:latin typeface="Consolas" panose="020B0609020204030204" pitchFamily="49" charset="0"/>
              </a:rPr>
              <a:t>ORBITRON_LIGHT32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(0, 0, 0);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tvOut.print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"Driver Test..."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0, 100,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(0xff, 0x00, 0x00);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tvOut.drawCircle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(50, 200, 20,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(0x00, 0xff, 0x00);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tvOut.drawCircle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(100, 200, 20,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(0x00, 0x00, 0xff);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tvOut.drawCircle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(150, 200, 20,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tvOut.swapFrameBuffers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(1);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95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16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C3DC2-E1E0-4ADC-99B4-EC41F360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D845F4-3243-4A3A-BD6F-1EFC4D25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42181"/>
          </a:xfrm>
        </p:spPr>
        <p:txBody>
          <a:bodyPr/>
          <a:lstStyle/>
          <a:p>
            <a:r>
              <a:rPr lang="en-US" dirty="0"/>
              <a:t>Generating bitmaps and using them in our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D1002-C2B2-4C45-AA39-B9812A6839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42765"/>
            <a:ext cx="8228012" cy="3778927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Pick your image, make it a BMP file with size no larger than 240x135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the BMPconverter.exe in the tools directory in the GIT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tool generates a C file containing the array (bitmap)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Place the file in your project directory as is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Generate a declaration in your main file (where loop resides)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extern const unsigned char/unsigned int/unsigned short </a:t>
            </a:r>
            <a:r>
              <a:rPr lang="en-US" sz="1600" dirty="0" err="1"/>
              <a:t>FlappyBird</a:t>
            </a:r>
            <a:r>
              <a:rPr lang="en-US" sz="1600" dirty="0"/>
              <a:t>[];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LCD.drawCompressed24bitBitmap(</a:t>
            </a:r>
            <a:r>
              <a:rPr lang="en-US" sz="1600" dirty="0" err="1"/>
              <a:t>x,y</a:t>
            </a:r>
            <a:r>
              <a:rPr lang="en-US" sz="1600" dirty="0"/>
              <a:t>, </a:t>
            </a:r>
            <a:r>
              <a:rPr lang="en-US" sz="1600" dirty="0" err="1"/>
              <a:t>FlappyBird</a:t>
            </a:r>
            <a:r>
              <a:rPr lang="en-US" sz="16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8965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824</Words>
  <Application>Microsoft Office PowerPoint</Application>
  <PresentationFormat>On-screen Show (16:9)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Consolas</vt:lpstr>
      <vt:lpstr>Intel Clear</vt:lpstr>
      <vt:lpstr>Intel Clear Pro</vt:lpstr>
      <vt:lpstr>Wingdings</vt:lpstr>
      <vt:lpstr>Int_PPT Template_ClearPro_16x9</vt:lpstr>
      <vt:lpstr>1_Int_PPT Template_ClearPro_16x9</vt:lpstr>
      <vt:lpstr>Intel Maker’s ESP32 course –  by intel’s makers community class 4 – LCD hands On</vt:lpstr>
      <vt:lpstr>PowerPoint Presentation</vt:lpstr>
      <vt:lpstr>Class 4 agenda:</vt:lpstr>
      <vt:lpstr>Animation basics…</vt:lpstr>
      <vt:lpstr>Basic graphics controller</vt:lpstr>
      <vt:lpstr>Few main technics</vt:lpstr>
      <vt:lpstr>Mapping the LCD of our platform</vt:lpstr>
      <vt:lpstr>PowerPoint Presentation</vt:lpstr>
      <vt:lpstr>Device driver</vt:lpstr>
      <vt:lpstr>Our LCD – ST7789 based</vt:lpstr>
      <vt:lpstr>ESP32 and the LCD\TV out block diagram</vt:lpstr>
      <vt:lpstr>TV Out – Uses DAC25 and I2S0</vt:lpstr>
      <vt:lpstr>Generating bitmaps and using them in our code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2024-05-15T13:04:53Z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2020-01-21 12:24:28Z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