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1"/>
    <p:sldMasterId id="2147483691" r:id="rId2"/>
  </p:sldMasterIdLst>
  <p:notesMasterIdLst>
    <p:notesMasterId r:id="rId31"/>
  </p:notesMasterIdLst>
  <p:handoutMasterIdLst>
    <p:handoutMasterId r:id="rId32"/>
  </p:handoutMasterIdLst>
  <p:sldIdLst>
    <p:sldId id="318" r:id="rId3"/>
    <p:sldId id="321" r:id="rId4"/>
    <p:sldId id="349" r:id="rId5"/>
    <p:sldId id="374" r:id="rId6"/>
    <p:sldId id="369" r:id="rId7"/>
    <p:sldId id="352" r:id="rId8"/>
    <p:sldId id="351" r:id="rId9"/>
    <p:sldId id="353" r:id="rId10"/>
    <p:sldId id="370" r:id="rId11"/>
    <p:sldId id="354" r:id="rId12"/>
    <p:sldId id="355" r:id="rId13"/>
    <p:sldId id="356" r:id="rId14"/>
    <p:sldId id="357" r:id="rId15"/>
    <p:sldId id="358" r:id="rId16"/>
    <p:sldId id="359" r:id="rId17"/>
    <p:sldId id="373" r:id="rId18"/>
    <p:sldId id="363" r:id="rId19"/>
    <p:sldId id="360" r:id="rId20"/>
    <p:sldId id="361" r:id="rId21"/>
    <p:sldId id="362" r:id="rId22"/>
    <p:sldId id="367" r:id="rId23"/>
    <p:sldId id="364" r:id="rId24"/>
    <p:sldId id="365" r:id="rId25"/>
    <p:sldId id="366" r:id="rId26"/>
    <p:sldId id="368" r:id="rId27"/>
    <p:sldId id="371" r:id="rId28"/>
    <p:sldId id="372" r:id="rId29"/>
    <p:sldId id="294" r:id="rId3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1620" userDrawn="1">
          <p15:clr>
            <a:srgbClr val="A4A3A4"/>
          </p15:clr>
        </p15:guide>
        <p15:guide id="7" pos="5470">
          <p15:clr>
            <a:srgbClr val="A4A3A4"/>
          </p15:clr>
        </p15:guide>
        <p15:guide id="8" pos="28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CE3E"/>
    <a:srgbClr val="0071C5"/>
    <a:srgbClr val="F83308"/>
    <a:srgbClr val="FD9208"/>
    <a:srgbClr val="009FDF"/>
    <a:srgbClr val="F3D54E"/>
    <a:srgbClr val="003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54" autoAdjust="0"/>
    <p:restoredTop sz="94634" autoAdjust="0"/>
  </p:normalViewPr>
  <p:slideViewPr>
    <p:cSldViewPr snapToGrid="0">
      <p:cViewPr varScale="1">
        <p:scale>
          <a:sx n="132" d="100"/>
          <a:sy n="132" d="100"/>
        </p:scale>
        <p:origin x="1852" y="64"/>
      </p:cViewPr>
      <p:guideLst>
        <p:guide orient="horz" pos="1620"/>
        <p:guide pos="5470"/>
        <p:guide pos="2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 showGuides="1">
      <p:cViewPr varScale="1">
        <p:scale>
          <a:sx n="63" d="100"/>
          <a:sy n="63" d="100"/>
        </p:scale>
        <p:origin x="2285" y="5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FD7B2-88A6-E34E-8EF8-CB0C7BA47ADD}" type="datetimeFigureOut">
              <a:rPr lang="en-US" smtClean="0">
                <a:latin typeface="Intel Clear"/>
              </a:rPr>
              <a:pPr/>
              <a:t>5/15/2024</a:t>
            </a:fld>
            <a:endParaRPr lang="en-US" dirty="0">
              <a:latin typeface="Intel Cle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CFA4E-18EB-6D49-8DE2-7A74038C2C1C}" type="slidenum">
              <a:rPr lang="en-US" smtClean="0">
                <a:latin typeface="Intel Clear"/>
              </a:rPr>
              <a:pPr/>
              <a:t>‹#›</a:t>
            </a:fld>
            <a:endParaRPr lang="en-US" dirty="0">
              <a:latin typeface="Intel Clear"/>
            </a:endParaRPr>
          </a:p>
        </p:txBody>
      </p:sp>
    </p:spTree>
    <p:extLst>
      <p:ext uri="{BB962C8B-B14F-4D97-AF65-F5344CB8AC3E}">
        <p14:creationId xmlns:p14="http://schemas.microsoft.com/office/powerpoint/2010/main" val="9129941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l Clear"/>
              </a:defRPr>
            </a:lvl1pPr>
          </a:lstStyle>
          <a:p>
            <a:fld id="{ED7FC5FE-6F0D-D34A-8EE6-C95B4F5F4DC8}" type="datetimeFigureOut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l Clear"/>
              </a:defRPr>
            </a:lvl1pPr>
          </a:lstStyle>
          <a:p>
            <a:fld id="{D61C8689-8455-3546-ADF9-3B7273760F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292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19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34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82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8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</p:spTree>
    <p:extLst>
      <p:ext uri="{BB962C8B-B14F-4D97-AF65-F5344CB8AC3E}">
        <p14:creationId xmlns:p14="http://schemas.microsoft.com/office/powerpoint/2010/main" val="180832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 dirty="0"/>
              <a:t>33pt Intel Clear Pro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03325"/>
            <a:ext cx="8228012" cy="3425825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51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30763" y="943430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830763" y="2843897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891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78363" y="1203324"/>
            <a:ext cx="4005264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06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613" y="1203325"/>
            <a:ext cx="8228013" cy="3425825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 err="1"/>
              <a:t>12pt</a:t>
            </a:r>
            <a:r>
              <a:rPr lang="en-US" dirty="0"/>
              <a:t> Attribution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94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20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4131"/>
            <a:ext cx="9144000" cy="219471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5"/>
            <a:ext cx="4006851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4678363" y="1203325"/>
            <a:ext cx="4005264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68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4006850" cy="86868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90042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83CB34-7304-ED41-AF00-05CDDF90D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315385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1A6966-524D-364A-9F32-0520C94D5D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320103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111011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2234882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40pt Intel Clear Light Body.</a:t>
            </a:r>
            <a:br>
              <a:rPr lang="en-US" dirty="0"/>
            </a:br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101794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</p:spTree>
    <p:extLst>
      <p:ext uri="{BB962C8B-B14F-4D97-AF65-F5344CB8AC3E}">
        <p14:creationId xmlns:p14="http://schemas.microsoft.com/office/powerpoint/2010/main" val="400125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260088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348787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2574131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384376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1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96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00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t_experience_hrz_wht_rgb_300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79" y="1874822"/>
            <a:ext cx="3646443" cy="15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83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273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25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3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8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</p:spTree>
    <p:extLst>
      <p:ext uri="{BB962C8B-B14F-4D97-AF65-F5344CB8AC3E}">
        <p14:creationId xmlns:p14="http://schemas.microsoft.com/office/powerpoint/2010/main" val="402950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 dirty="0"/>
              <a:t>33pt Intel Clear Pro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03325"/>
            <a:ext cx="8228012" cy="3425825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318608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30763" y="943430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endParaRPr lang="en-US" sz="1100" dirty="0">
              <a:latin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830763" y="2843897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endParaRPr lang="en-US" sz="11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949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78363" y="1203324"/>
            <a:ext cx="4005264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65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613" y="1203325"/>
            <a:ext cx="8228013" cy="3425825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 err="1"/>
              <a:t>12pt</a:t>
            </a:r>
            <a:r>
              <a:rPr lang="en-US" dirty="0"/>
              <a:t> Attribution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8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75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4131"/>
            <a:ext cx="9144000" cy="219471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5"/>
            <a:ext cx="4006851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4678363" y="1203325"/>
            <a:ext cx="4005264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27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4006850" cy="86868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12661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85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83CB34-7304-ED41-AF00-05CDDF90D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287575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1A6966-524D-364A-9F32-0520C94D5D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415824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10983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2234882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40pt Intel Clear Light Body.</a:t>
            </a:r>
            <a:br>
              <a:rPr lang="en-US" dirty="0"/>
            </a:br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101794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</p:spTree>
    <p:extLst>
      <p:ext uri="{BB962C8B-B14F-4D97-AF65-F5344CB8AC3E}">
        <p14:creationId xmlns:p14="http://schemas.microsoft.com/office/powerpoint/2010/main" val="1070940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260088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348787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2574131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238458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45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88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01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t_experience_hrz_wht_rgb_300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79" y="1874822"/>
            <a:ext cx="3646443" cy="15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6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3BF46A5-D99E-714B-96C7-B8EACE0125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t="92533"/>
          <a:stretch/>
        </p:blipFill>
        <p:spPr>
          <a:xfrm>
            <a:off x="0" y="4759452"/>
            <a:ext cx="9144000" cy="384048"/>
          </a:xfrm>
          <a:prstGeom prst="rect">
            <a:avLst/>
          </a:prstGeom>
        </p:spPr>
      </p:pic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33pt Intel Clear Pro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203325"/>
            <a:ext cx="8228012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 err="1"/>
              <a:t>14pt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06F2D-A48C-414B-96E9-DB0F3CD67C4D}"/>
              </a:ext>
            </a:extLst>
          </p:cNvPr>
          <p:cNvSpPr txBox="1"/>
          <p:nvPr userDrawn="1"/>
        </p:nvSpPr>
        <p:spPr>
          <a:xfrm>
            <a:off x="455613" y="4809976"/>
            <a:ext cx="1263166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Scale Your Innovation</a:t>
            </a:r>
          </a:p>
        </p:txBody>
      </p:sp>
    </p:spTree>
    <p:extLst>
      <p:ext uri="{BB962C8B-B14F-4D97-AF65-F5344CB8AC3E}">
        <p14:creationId xmlns:p14="http://schemas.microsoft.com/office/powerpoint/2010/main" val="378622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14" r:id="rId3"/>
    <p:sldLayoutId id="2147483715" r:id="rId4"/>
    <p:sldLayoutId id="2147483674" r:id="rId5"/>
    <p:sldLayoutId id="2147483650" r:id="rId6"/>
    <p:sldLayoutId id="2147483684" r:id="rId7"/>
    <p:sldLayoutId id="2147483652" r:id="rId8"/>
    <p:sldLayoutId id="2147483660" r:id="rId9"/>
    <p:sldLayoutId id="2147483668" r:id="rId10"/>
    <p:sldLayoutId id="2147483669" r:id="rId11"/>
    <p:sldLayoutId id="2147483670" r:id="rId12"/>
    <p:sldLayoutId id="2147483672" r:id="rId13"/>
    <p:sldLayoutId id="2147483690" r:id="rId14"/>
    <p:sldLayoutId id="2147483689" r:id="rId15"/>
    <p:sldLayoutId id="2147483651" r:id="rId16"/>
    <p:sldLayoutId id="2147483677" r:id="rId17"/>
    <p:sldLayoutId id="2147483665" r:id="rId18"/>
    <p:sldLayoutId id="2147483654" r:id="rId19"/>
    <p:sldLayoutId id="2147483655" r:id="rId20"/>
    <p:sldLayoutId id="2147483676" r:id="rId21"/>
    <p:sldLayoutId id="2147483681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ts val="3000"/>
        </a:lnSpc>
        <a:spcBef>
          <a:spcPct val="0"/>
        </a:spcBef>
        <a:buNone/>
        <a:defRPr sz="3300" b="0" i="0" kern="1200" spc="0" baseline="0">
          <a:solidFill>
            <a:schemeClr val="tx2"/>
          </a:solidFill>
          <a:latin typeface="Intel Clear Pro" panose="020B0804020202060201" pitchFamily="34" charset="77"/>
          <a:ea typeface="Intel Clear Pro" panose="020B0804020202060201" pitchFamily="34" charset="77"/>
          <a:cs typeface="Intel Clear Pro" panose="020B0804020202060201" pitchFamily="34" charset="77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8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B1CEF42-63D0-6F46-A408-1623CB42B5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t="92533"/>
          <a:stretch/>
        </p:blipFill>
        <p:spPr>
          <a:xfrm>
            <a:off x="0" y="4759452"/>
            <a:ext cx="9144000" cy="384048"/>
          </a:xfrm>
          <a:prstGeom prst="rect">
            <a:avLst/>
          </a:prstGeom>
        </p:spPr>
      </p:pic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33pt Intel Clear Pro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203325"/>
            <a:ext cx="8228012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 err="1"/>
              <a:t>14pt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DB9911-7C11-FF44-91CB-947A6460653E}"/>
              </a:ext>
            </a:extLst>
          </p:cNvPr>
          <p:cNvSpPr txBox="1"/>
          <p:nvPr userDrawn="1"/>
        </p:nvSpPr>
        <p:spPr>
          <a:xfrm>
            <a:off x="455613" y="4809976"/>
            <a:ext cx="2678618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One Platform for the Intersection of AI and HPC</a:t>
            </a:r>
          </a:p>
        </p:txBody>
      </p:sp>
    </p:spTree>
    <p:extLst>
      <p:ext uri="{BB962C8B-B14F-4D97-AF65-F5344CB8AC3E}">
        <p14:creationId xmlns:p14="http://schemas.microsoft.com/office/powerpoint/2010/main" val="2436938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716" r:id="rId3"/>
    <p:sldLayoutId id="2147483717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ts val="3000"/>
        </a:lnSpc>
        <a:spcBef>
          <a:spcPct val="0"/>
        </a:spcBef>
        <a:buNone/>
        <a:defRPr sz="3300" b="0" i="0" kern="1200" spc="0" baseline="0">
          <a:solidFill>
            <a:schemeClr val="tx2"/>
          </a:solidFill>
          <a:latin typeface="Intel Clear Pro" panose="020B0804020202060201" pitchFamily="34" charset="77"/>
          <a:ea typeface="Intel Clear Pro" panose="020B0804020202060201" pitchFamily="34" charset="77"/>
          <a:cs typeface="Intel Clear Pro" panose="020B0804020202060201" pitchFamily="34" charset="77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8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en.wikipedia.org/wiki/Internet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Wireless_LAN" TargetMode="External"/><Relationship Id="rId2" Type="http://schemas.openxmlformats.org/officeDocument/2006/relationships/hyperlink" Target="https://en.wikipedia.org/wiki/IEEE_802.11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en.wikipedia.org/wiki/Internet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14.1/" TargetMode="External"/><Relationship Id="rId2" Type="http://schemas.openxmlformats.org/officeDocument/2006/relationships/hyperlink" Target="http://esp32.local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AF33-66AC-4A4D-911B-84C4FCD6B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087" y="4040981"/>
            <a:ext cx="8212886" cy="1102519"/>
          </a:xfrm>
        </p:spPr>
        <p:txBody>
          <a:bodyPr/>
          <a:lstStyle/>
          <a:p>
            <a:r>
              <a:rPr lang="en-US" dirty="0"/>
              <a:t>Maker’s university – </a:t>
            </a:r>
            <a:br>
              <a:rPr lang="en-US" dirty="0"/>
            </a:br>
            <a:r>
              <a:rPr lang="en-US" dirty="0"/>
              <a:t>by intel’s makers community</a:t>
            </a:r>
            <a:br>
              <a:rPr lang="en-US" dirty="0"/>
            </a:br>
            <a:r>
              <a:rPr lang="en-US" dirty="0"/>
              <a:t>class 5 – IOT &amp; Remote access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84B77-B6A3-E84D-97B0-DCAFA66C43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Gil Tal.</a:t>
            </a:r>
          </a:p>
          <a:p>
            <a:r>
              <a:rPr lang="en-US" dirty="0"/>
              <a:t>Jul 2021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27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562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14:flash/>
      </p:transition>
    </mc:Choice>
    <mc:Fallback xmlns=""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34EB1A-2475-5B44-BD4D-BDC45763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3C6D0A-8B55-9345-B774-BED156D9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6447"/>
          </a:xfrm>
        </p:spPr>
        <p:txBody>
          <a:bodyPr/>
          <a:lstStyle/>
          <a:p>
            <a:r>
              <a:rPr lang="en-US" dirty="0"/>
              <a:t>Class 5 agenda: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EC5FC-28FF-4A46-99C9-D7F63D2F3E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21588"/>
            <a:ext cx="8228012" cy="3982298"/>
          </a:xfrm>
        </p:spPr>
        <p:txBody>
          <a:bodyPr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IOT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Control and communication over the air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Wi-Fi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Bluetooth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LoRa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Wi-Fi basics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Webserver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Multicast DNS (</a:t>
            </a:r>
            <a:r>
              <a:rPr lang="en-US" dirty="0" err="1"/>
              <a:t>mDNS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08352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34EB1A-2475-5B44-BD4D-BDC45763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3C6D0A-8B55-9345-B774-BED156D9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6447"/>
          </a:xfrm>
        </p:spPr>
        <p:txBody>
          <a:bodyPr/>
          <a:lstStyle/>
          <a:p>
            <a:r>
              <a:rPr lang="en-US" dirty="0"/>
              <a:t>Class 6 agenda: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EC5FC-28FF-4A46-99C9-D7F63D2F3E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21588"/>
            <a:ext cx="8228012" cy="3982298"/>
          </a:xfrm>
        </p:spPr>
        <p:txBody>
          <a:bodyPr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ESP-Now protocol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Useful web services and protocols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Bluetooth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OTA (Over The Air update)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LoRa</a:t>
            </a:r>
          </a:p>
        </p:txBody>
      </p:sp>
    </p:spTree>
    <p:extLst>
      <p:ext uri="{BB962C8B-B14F-4D97-AF65-F5344CB8AC3E}">
        <p14:creationId xmlns:p14="http://schemas.microsoft.com/office/powerpoint/2010/main" val="758553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C88899-F4B1-4345-B2EA-7B087819F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B8D95E-DD54-408D-9B04-419C52CC2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407682"/>
          </a:xfrm>
        </p:spPr>
        <p:txBody>
          <a:bodyPr/>
          <a:lstStyle/>
          <a:p>
            <a:r>
              <a:rPr lang="en-US" dirty="0"/>
              <a:t>IOT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5130C-84FC-4F97-823B-59322B39441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692547"/>
            <a:ext cx="8228012" cy="393660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The Internet of things (IoT) </a:t>
            </a:r>
            <a:r>
              <a:rPr lang="en-US" sz="1400" dirty="0"/>
              <a:t>describes the network of physical objects - a.k.a. "things“ - that are embedded with sensors, software, and other technologies for the purpose of connecting and exchanging data with other devices and systems over the </a:t>
            </a:r>
            <a:r>
              <a:rPr lang="en-US" sz="1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Internet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Used for: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Smart Homes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Elder care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Agriculture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Environmental monitoring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And more ….</a:t>
            </a:r>
          </a:p>
        </p:txBody>
      </p:sp>
      <p:pic>
        <p:nvPicPr>
          <p:cNvPr id="1028" name="Picture 4" descr="What Do the Next Five Years Hold For the Internet of Things?">
            <a:extLst>
              <a:ext uri="{FF2B5EF4-FFF2-40B4-BE49-F238E27FC236}">
                <a16:creationId xmlns:a16="http://schemas.microsoft.com/office/drawing/2014/main" id="{944B019E-E476-479A-9A18-98A728BC9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391" y="1463039"/>
            <a:ext cx="5208152" cy="3015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56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Wi-fi basics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15109"/>
            <a:ext cx="8228012" cy="3914042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Wi-Fi basics: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Family of wireless networking technologies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hlinkClick r:id="rId2" tooltip="IEEE 802.11"/>
              </a:rPr>
              <a:t>IEEE 802.11</a:t>
            </a:r>
            <a:r>
              <a:rPr lang="en-US" dirty="0"/>
              <a:t> family of standards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Used for </a:t>
            </a:r>
            <a:r>
              <a:rPr lang="en-US" dirty="0">
                <a:hlinkClick r:id="rId3" tooltip="Wireless LAN"/>
              </a:rPr>
              <a:t>local area networking</a:t>
            </a:r>
            <a:r>
              <a:rPr lang="en-US" dirty="0"/>
              <a:t> of devices and </a:t>
            </a:r>
            <a:r>
              <a:rPr lang="en-US" dirty="0">
                <a:hlinkClick r:id="rId4" tooltip="Internet"/>
              </a:rPr>
              <a:t>Internet</a:t>
            </a:r>
            <a:r>
              <a:rPr lang="en-US" dirty="0"/>
              <a:t> access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20-150 meters range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Standard defines 16 channels for communication</a:t>
            </a:r>
          </a:p>
          <a:p>
            <a:pPr marL="8572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Enables multiple access points at the same physical location</a:t>
            </a:r>
          </a:p>
        </p:txBody>
      </p:sp>
    </p:spTree>
    <p:extLst>
      <p:ext uri="{BB962C8B-B14F-4D97-AF65-F5344CB8AC3E}">
        <p14:creationId xmlns:p14="http://schemas.microsoft.com/office/powerpoint/2010/main" val="3475864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Wi-fi basics: AP and </a:t>
            </a:r>
            <a:r>
              <a:rPr lang="en-US" sz="3600" dirty="0" err="1"/>
              <a:t>sta</a:t>
            </a:r>
            <a:endParaRPr lang="en-US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669926"/>
            <a:ext cx="8228012" cy="3914042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AP – Access point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Enable the creation of a local Wi-Fi network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We connect to an access point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u="sng" dirty="0"/>
              <a:t>With or without</a:t>
            </a:r>
            <a:r>
              <a:rPr lang="en-US" sz="1600" dirty="0"/>
              <a:t> access to the internet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Uses a specific channel which can be modified while operating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Has limitation for number of connected devices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Has a name and an optional password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Can use an encrypted communication protocol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STA – Station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An end point device 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Connects to an AP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While searching for an AP needs to scan different channels until found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Station name and password can be saved on EEPROM, SPIFFS or SDCARD</a:t>
            </a:r>
          </a:p>
        </p:txBody>
      </p:sp>
      <p:pic>
        <p:nvPicPr>
          <p:cNvPr id="6" name="Picture 2" descr="Image result for wi-fi images&quot;">
            <a:extLst>
              <a:ext uri="{FF2B5EF4-FFF2-40B4-BE49-F238E27FC236}">
                <a16:creationId xmlns:a16="http://schemas.microsoft.com/office/drawing/2014/main" id="{2BF78BDA-0CF0-47AB-AE3A-C531C322A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842" y="192348"/>
            <a:ext cx="2208435" cy="1595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4DD946-E3AD-4C68-8E63-1A64F115D7C3}"/>
              </a:ext>
            </a:extLst>
          </p:cNvPr>
          <p:cNvSpPr txBox="1"/>
          <p:nvPr/>
        </p:nvSpPr>
        <p:spPr>
          <a:xfrm>
            <a:off x="7003282" y="1757779"/>
            <a:ext cx="177553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  <a:highlight>
                  <a:srgbClr val="FFFF00"/>
                </a:highlight>
              </a:rPr>
              <a:t>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50E1A9-71D0-4C32-A40A-D28F6163A5EE}"/>
              </a:ext>
            </a:extLst>
          </p:cNvPr>
          <p:cNvSpPr txBox="1"/>
          <p:nvPr/>
        </p:nvSpPr>
        <p:spPr>
          <a:xfrm>
            <a:off x="5965794" y="308848"/>
            <a:ext cx="636233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  <a:highlight>
                  <a:srgbClr val="FFFF00"/>
                </a:highlight>
              </a:rPr>
              <a:t>End Point device</a:t>
            </a:r>
          </a:p>
        </p:txBody>
      </p:sp>
    </p:spTree>
    <p:extLst>
      <p:ext uri="{BB962C8B-B14F-4D97-AF65-F5344CB8AC3E}">
        <p14:creationId xmlns:p14="http://schemas.microsoft.com/office/powerpoint/2010/main" val="3609594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Wi-fi basics: our esp32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15109"/>
            <a:ext cx="8228012" cy="3914042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Runs full network stack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Can function as: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AP</a:t>
            </a:r>
          </a:p>
          <a:p>
            <a:pPr marL="8572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By default enables up to 4 users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STA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Both*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F7A131-4C6E-4746-9212-8A0463400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359" y="1302059"/>
            <a:ext cx="4030704" cy="26817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49C436-C2C7-4639-B7CA-959597DE5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03" y="2860447"/>
            <a:ext cx="2995020" cy="16428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1628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EE2E05-54A1-4C08-B620-45724406C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53D94C-2134-421E-8945-5C0873801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65709"/>
          </a:xfrm>
        </p:spPr>
        <p:txBody>
          <a:bodyPr/>
          <a:lstStyle/>
          <a:p>
            <a:r>
              <a:rPr lang="en-US" dirty="0"/>
              <a:t>HTML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D328D-89B4-43EC-A63A-7523F199900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91481"/>
            <a:ext cx="8228012" cy="383766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Hyper Text Markup Language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Is the standard markup language for documents designed to be displayed in a web browser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It can be assisted by technologies such as </a:t>
            </a:r>
            <a:r>
              <a:rPr lang="en-US" sz="1400" b="1" dirty="0"/>
              <a:t>Cascading Style Sheets (CSS)</a:t>
            </a:r>
            <a:r>
              <a:rPr lang="en-US" sz="1400" dirty="0"/>
              <a:t> and scripting languages such as </a:t>
            </a:r>
            <a:r>
              <a:rPr lang="en-US" sz="1400" b="1" dirty="0"/>
              <a:t>JavaScript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400" b="1" dirty="0">
                <a:hlinkClick r:id="rId2"/>
              </a:rPr>
              <a:t>https://www.w3schools.com/</a:t>
            </a:r>
            <a:r>
              <a:rPr lang="en-US" sz="1400" b="1" dirty="0"/>
              <a:t> - great site for learning and designing web pages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775745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webserver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15109"/>
            <a:ext cx="8228012" cy="3914042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Web pages are hosted on a webserver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Most commonly written in HTML5 + JAVA script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There are various HTML5 emulators out there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Has a specific IP address (192.168.14.1 for example)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Is a passive device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We need a browser to access it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Browser </a:t>
            </a:r>
            <a:r>
              <a:rPr lang="en-US" sz="1600" b="1" dirty="0">
                <a:highlight>
                  <a:srgbClr val="FFFF00"/>
                </a:highlight>
              </a:rPr>
              <a:t>is</a:t>
            </a:r>
            <a:r>
              <a:rPr lang="en-US" sz="1600" dirty="0"/>
              <a:t> executing the HTML5 code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The communication protocol is HTTP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There are large number of hosting providers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IP address can be replaced by a name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DNS server translates the name to the specific IP address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FFFF00"/>
                </a:highlight>
              </a:rPr>
              <a:t>ESP32 can run a webserver! </a:t>
            </a:r>
            <a:r>
              <a:rPr lang="en-US" sz="1600" dirty="0">
                <a:highlight>
                  <a:srgbClr val="FFFF00"/>
                </a:highlight>
                <a:sym typeface="Wingdings" panose="05000000000000000000" pitchFamily="2" charset="2"/>
              </a:rPr>
              <a:t></a:t>
            </a:r>
            <a:endParaRPr lang="en-US" sz="1600" dirty="0">
              <a:highlight>
                <a:srgbClr val="FFFF00"/>
              </a:highlight>
            </a:endParaRP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4109C7-EA7E-4815-A02E-48B3E8DA2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283" y="308848"/>
            <a:ext cx="3121979" cy="366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7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Webserver – what can we do with 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15109"/>
            <a:ext cx="8228012" cy="3914042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Have a nice GUI to communicate with the ESP32 using a browser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Control IOs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Get information from our ESP32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Such as temperature, humidity depending on what we connected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Send data to the ESP32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Files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Raw data</a:t>
            </a:r>
          </a:p>
        </p:txBody>
      </p:sp>
    </p:spTree>
    <p:extLst>
      <p:ext uri="{BB962C8B-B14F-4D97-AF65-F5344CB8AC3E}">
        <p14:creationId xmlns:p14="http://schemas.microsoft.com/office/powerpoint/2010/main" val="364050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Webserver – work 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15109"/>
            <a:ext cx="8228012" cy="3914042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We need to initialize: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WiFi</a:t>
            </a:r>
            <a:endParaRPr lang="en-US" dirty="0"/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Webserver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Prepare the HTML for the pages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Handle the client which interacts with the browser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Process the incoming data from the browser to perform actions on the ESP</a:t>
            </a:r>
          </a:p>
        </p:txBody>
      </p:sp>
    </p:spTree>
    <p:extLst>
      <p:ext uri="{BB962C8B-B14F-4D97-AF65-F5344CB8AC3E}">
        <p14:creationId xmlns:p14="http://schemas.microsoft.com/office/powerpoint/2010/main" val="1064368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Webserver – Init 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E84ADF-B740-4776-87C7-4AB40C11F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68" y="1012648"/>
            <a:ext cx="2051692" cy="19334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E6B839-BF29-4E94-9095-6B2F6CEAA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273" y="139084"/>
            <a:ext cx="3608455" cy="44747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5499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Webserver – INIT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09051D-9811-4CEB-AC65-05F15163F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13" y="809684"/>
            <a:ext cx="5042159" cy="12573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63317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Webserver – html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C7DBF9-8821-4413-9882-00A2B4401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71" y="778570"/>
            <a:ext cx="8626136" cy="386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69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157233-EC5F-4AB8-BF4E-863412F9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62CBCF-B3CA-4317-9016-54D494C2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50719"/>
          </a:xfrm>
        </p:spPr>
        <p:txBody>
          <a:bodyPr/>
          <a:lstStyle/>
          <a:p>
            <a:r>
              <a:rPr lang="en-US" sz="3200" dirty="0"/>
              <a:t>Webserver – html data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819DE-3E85-490B-BE80-F9200B91C2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16531"/>
            <a:ext cx="8228012" cy="39126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 static data with pre-defined start conditions: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const char mainMenuPage[]PROGMEM = R"rawliteral(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pt-BR" dirty="0"/>
              <a:t>HTML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)</a:t>
            </a:r>
            <a:r>
              <a:rPr lang="en-US" dirty="0" err="1"/>
              <a:t>rawliteral</a:t>
            </a:r>
            <a:r>
              <a:rPr lang="en-US" dirty="0"/>
              <a:t>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b="1" dirty="0"/>
              <a:t>dynamic data </a:t>
            </a:r>
            <a:r>
              <a:rPr lang="en-US" dirty="0"/>
              <a:t>with interactive page with need to use String and build the page in real time!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9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E3DFE6-6742-4651-92CA-250425F97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89F46-9087-4D5C-87AB-7AB0D3A6C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202041"/>
            <a:ext cx="8229600" cy="380651"/>
          </a:xfrm>
        </p:spPr>
        <p:txBody>
          <a:bodyPr/>
          <a:lstStyle/>
          <a:p>
            <a:r>
              <a:rPr lang="en-US" dirty="0"/>
              <a:t>How does it looks…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D4EEEE-F122-487D-B84A-7590AE455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975" y="801948"/>
            <a:ext cx="1655873" cy="35396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4A0632-2833-4A40-A154-B560E1A43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37" y="801948"/>
            <a:ext cx="1648931" cy="35396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63C456-643B-4665-807C-AF40417EE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06" y="801948"/>
            <a:ext cx="1648931" cy="35353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2EBB5C-00C7-4A0E-8CF2-02604A2EE5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4254" y="1177675"/>
            <a:ext cx="2348586" cy="21721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243132-4924-40D1-8FBE-B91012733E9F}"/>
              </a:ext>
            </a:extLst>
          </p:cNvPr>
          <p:cNvCxnSpPr/>
          <p:nvPr/>
        </p:nvCxnSpPr>
        <p:spPr>
          <a:xfrm flipV="1">
            <a:off x="1559511" y="1592062"/>
            <a:ext cx="855215" cy="399495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78AC90-4FB9-49D6-9591-5B5601A7A0B6}"/>
              </a:ext>
            </a:extLst>
          </p:cNvPr>
          <p:cNvCxnSpPr/>
          <p:nvPr/>
        </p:nvCxnSpPr>
        <p:spPr>
          <a:xfrm>
            <a:off x="1512163" y="2453196"/>
            <a:ext cx="308351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32FE31-5EFE-44B5-99F7-6A1AF8BC90BF}"/>
              </a:ext>
            </a:extLst>
          </p:cNvPr>
          <p:cNvCxnSpPr/>
          <p:nvPr/>
        </p:nvCxnSpPr>
        <p:spPr>
          <a:xfrm flipV="1">
            <a:off x="5959876" y="1814004"/>
            <a:ext cx="547456" cy="54745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D075E91-5C13-4E5C-AC87-0FD80B8C858E}"/>
              </a:ext>
            </a:extLst>
          </p:cNvPr>
          <p:cNvCxnSpPr/>
          <p:nvPr/>
        </p:nvCxnSpPr>
        <p:spPr>
          <a:xfrm flipH="1">
            <a:off x="2089212" y="2024109"/>
            <a:ext cx="1050524" cy="18347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009A4EE-7A25-4B30-8156-053F768DD953}"/>
              </a:ext>
            </a:extLst>
          </p:cNvPr>
          <p:cNvCxnSpPr/>
          <p:nvPr/>
        </p:nvCxnSpPr>
        <p:spPr>
          <a:xfrm flipH="1" flipV="1">
            <a:off x="2089212" y="2805344"/>
            <a:ext cx="3086470" cy="63031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23DC895-548F-4E38-9DA0-EC2C94AE735F}"/>
              </a:ext>
            </a:extLst>
          </p:cNvPr>
          <p:cNvCxnSpPr/>
          <p:nvPr/>
        </p:nvCxnSpPr>
        <p:spPr>
          <a:xfrm flipV="1">
            <a:off x="5785282" y="1775534"/>
            <a:ext cx="677662" cy="21602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D4B4DAD-96B4-4A34-892D-67213CE60CF1}"/>
              </a:ext>
            </a:extLst>
          </p:cNvPr>
          <p:cNvCxnSpPr/>
          <p:nvPr/>
        </p:nvCxnSpPr>
        <p:spPr>
          <a:xfrm flipV="1">
            <a:off x="5779363" y="1991557"/>
            <a:ext cx="683581" cy="10682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346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Webserver – handle the client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C19B6-A71E-4097-BF97-64AF78C3C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81" y="879747"/>
            <a:ext cx="1949550" cy="2413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7F0D4F-6A5A-4A04-8C9C-998BE6414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140" y="1121059"/>
            <a:ext cx="3205292" cy="34842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16356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Webserver – processing incoming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6518C-35FA-488C-A62F-6D7373906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35" y="842490"/>
            <a:ext cx="5042609" cy="36620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8037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593B7C-E8D2-4B46-B78A-999B8BAA3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DA84AE-279B-4C0A-A00C-BC68F43ED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4733"/>
          </a:xfrm>
        </p:spPr>
        <p:txBody>
          <a:bodyPr/>
          <a:lstStyle/>
          <a:p>
            <a:r>
              <a:rPr lang="en-US" dirty="0"/>
              <a:t>Multicast DNS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8216D-561B-4FF6-8D04-24AA74CC1B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30929"/>
            <a:ext cx="8228012" cy="389822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Domain Name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MDNS – Is a zero-configuration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Enables usage of names instead of IP 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Our ESP32 runs Multicast DNS (MDNS)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Windows and Apple devices can work with MDNS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Sadly Android does not </a:t>
            </a:r>
            <a:r>
              <a:rPr lang="en-US" b="1" dirty="0">
                <a:sym typeface="Wingdings" panose="05000000000000000000" pitchFamily="2" charset="2"/>
              </a:rPr>
              <a:t>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ym typeface="Wingdings" panose="05000000000000000000" pitchFamily="2" charset="2"/>
              </a:rPr>
              <a:t>Usage: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b="1" dirty="0">
                <a:sym typeface="Wingdings" panose="05000000000000000000" pitchFamily="2" charset="2"/>
                <a:hlinkClick r:id="rId2"/>
              </a:rPr>
              <a:t>http://esp32</a:t>
            </a:r>
            <a:r>
              <a:rPr lang="en-US" b="1" dirty="0">
                <a:highlight>
                  <a:srgbClr val="FFFF00"/>
                </a:highlight>
                <a:sym typeface="Wingdings" panose="05000000000000000000" pitchFamily="2" charset="2"/>
                <a:hlinkClick r:id="rId2"/>
              </a:rPr>
              <a:t>.local</a:t>
            </a:r>
            <a:r>
              <a:rPr lang="en-US" b="1" dirty="0">
                <a:sym typeface="Wingdings" panose="05000000000000000000" pitchFamily="2" charset="2"/>
                <a:hlinkClick r:id="rId2"/>
              </a:rPr>
              <a:t>/</a:t>
            </a:r>
            <a:endParaRPr lang="en-US" b="1" dirty="0">
              <a:sym typeface="Wingdings" panose="05000000000000000000" pitchFamily="2" charset="2"/>
            </a:endParaRP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b="1" dirty="0">
                <a:sym typeface="Wingdings" panose="05000000000000000000" pitchFamily="2" charset="2"/>
              </a:rPr>
              <a:t>No MDNS support - </a:t>
            </a:r>
            <a:r>
              <a:rPr lang="en-US" b="1" dirty="0">
                <a:sym typeface="Wingdings" panose="05000000000000000000" pitchFamily="2" charset="2"/>
                <a:hlinkClick r:id="rId3"/>
              </a:rPr>
              <a:t>http://192.168.14.1/</a:t>
            </a:r>
            <a:r>
              <a:rPr lang="en-US" b="1" dirty="0">
                <a:sym typeface="Wingdings" panose="05000000000000000000" pitchFamily="2" charset="2"/>
              </a:rPr>
              <a:t> (just an example IP)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19BFC-531D-4A69-AB7A-52BD42626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8866" y="2680040"/>
            <a:ext cx="4134062" cy="14415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863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FF6DCD-B39F-48CD-83C3-B2F86A1E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9C472F-5734-47D5-8B13-837729399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3748"/>
            <a:ext cx="8229600" cy="370602"/>
          </a:xfrm>
        </p:spPr>
        <p:txBody>
          <a:bodyPr/>
          <a:lstStyle/>
          <a:p>
            <a:r>
              <a:rPr lang="en-US" dirty="0"/>
              <a:t>No </a:t>
            </a:r>
            <a:r>
              <a:rPr lang="en-US" dirty="0" err="1"/>
              <a:t>mdns</a:t>
            </a:r>
            <a:r>
              <a:rPr lang="en-US" dirty="0"/>
              <a:t> on Android so… (buy an iPhone </a:t>
            </a:r>
            <a:r>
              <a:rPr lang="en-US" dirty="0">
                <a:sym typeface="Wingdings" panose="05000000000000000000" pitchFamily="2" charset="2"/>
              </a:rPr>
              <a:t> or)</a:t>
            </a:r>
            <a:endParaRPr lang="en-US" dirty="0"/>
          </a:p>
        </p:txBody>
      </p:sp>
      <p:pic>
        <p:nvPicPr>
          <p:cNvPr id="6" name="Picture 5" descr="A screen shot of a smart phone&#10;&#10;Description automatically generated">
            <a:extLst>
              <a:ext uri="{FF2B5EF4-FFF2-40B4-BE49-F238E27FC236}">
                <a16:creationId xmlns:a16="http://schemas.microsoft.com/office/drawing/2014/main" id="{17E44084-A604-4F48-BBF2-DCC799E8A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853" y="628649"/>
            <a:ext cx="1752598" cy="3797297"/>
          </a:xfrm>
          <a:prstGeom prst="rect">
            <a:avLst/>
          </a:prstGeom>
        </p:spPr>
      </p:pic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15FD725A-C0D2-4DCF-BAF3-F10462A67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639" y="628649"/>
            <a:ext cx="1752599" cy="3797300"/>
          </a:xfrm>
          <a:prstGeom prst="rect">
            <a:avLst/>
          </a:prstGeom>
        </p:spPr>
      </p:pic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3D050D2A-767E-4567-B538-45961B037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1991" y="628646"/>
            <a:ext cx="1752600" cy="3797300"/>
          </a:xfrm>
          <a:prstGeom prst="rect">
            <a:avLst/>
          </a:prstGeom>
        </p:spPr>
      </p:pic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DE326BE5-D38A-4794-92E7-3313E7434C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776" y="628646"/>
            <a:ext cx="1752600" cy="37973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5D55CA-5DF0-439A-8E29-2FBFBE89680A}"/>
              </a:ext>
            </a:extLst>
          </p:cNvPr>
          <p:cNvCxnSpPr/>
          <p:nvPr/>
        </p:nvCxnSpPr>
        <p:spPr>
          <a:xfrm flipH="1">
            <a:off x="6553200" y="3067050"/>
            <a:ext cx="156210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C18FD72-2A52-4A14-8E3C-1F1D218203F2}"/>
              </a:ext>
            </a:extLst>
          </p:cNvPr>
          <p:cNvCxnSpPr/>
          <p:nvPr/>
        </p:nvCxnSpPr>
        <p:spPr>
          <a:xfrm flipH="1" flipV="1">
            <a:off x="4286250" y="1295400"/>
            <a:ext cx="812800" cy="177165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5654D4-1310-431E-A6BB-68D66EE272E6}"/>
              </a:ext>
            </a:extLst>
          </p:cNvPr>
          <p:cNvCxnSpPr/>
          <p:nvPr/>
        </p:nvCxnSpPr>
        <p:spPr>
          <a:xfrm flipH="1" flipV="1">
            <a:off x="2181376" y="2774950"/>
            <a:ext cx="1571474" cy="100330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92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15109"/>
            <a:ext cx="8228012" cy="3914042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Protocol developed by </a:t>
            </a:r>
            <a:r>
              <a:rPr lang="en-US" dirty="0" err="1"/>
              <a:t>Espressif</a:t>
            </a:r>
            <a:endParaRPr lang="en-US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Enables multiple devices to communicate without using Wi-Fi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Low-power 2.4GHz wireless connectivity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Encrypted and unencrypted unicast communication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Up to 250-byte payload can be carried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10 encrypted peers at the most (STA mode), 6 for </a:t>
            </a:r>
            <a:r>
              <a:rPr lang="en-US" dirty="0" err="1"/>
              <a:t>SoftAP</a:t>
            </a:r>
            <a:r>
              <a:rPr lang="en-US" dirty="0"/>
              <a:t> or STA + </a:t>
            </a:r>
            <a:r>
              <a:rPr lang="en-US" dirty="0" err="1"/>
              <a:t>SoftAP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EC1960-0710-42C1-8B0A-4665A64FE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701" y="41890"/>
            <a:ext cx="2351836" cy="6732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C7A402-78E7-4D22-801D-EB951135D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795652"/>
            <a:ext cx="2617365" cy="18761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0351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 err="1"/>
              <a:t>Esp</a:t>
            </a:r>
            <a:r>
              <a:rPr lang="en-US" sz="3600" dirty="0"/>
              <a:t>-now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15109"/>
            <a:ext cx="8228012" cy="3914042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Works with MAC address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Need to know the our MAC and the Peer’s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Initialize the protocol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Register callback functions for send and receive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Register peers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Upon sending the send function will be called: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With status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With the MAC of the targeted peer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Upon receiving the receive function will be called: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With the MAC of the sender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With the received data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D740F-035D-419D-923E-4431F1944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371" y="416145"/>
            <a:ext cx="2762392" cy="5588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A27537-E429-4EEC-8B70-DC7BEE487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771" y="1094540"/>
            <a:ext cx="3425162" cy="5416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B74540-5EA9-4A02-8111-F55BC8B91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289" y="1717892"/>
            <a:ext cx="2239474" cy="5954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44AA83-D29E-4C69-BAF1-029E0D84F5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320" y="2473262"/>
            <a:ext cx="3181387" cy="5161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DDAFFD-B164-44D2-98CC-ECE3EA8C8A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0883" y="3938389"/>
            <a:ext cx="3673880" cy="4848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036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IOT – Controlling our ESP32 over the cloud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15109"/>
            <a:ext cx="8228012" cy="3914042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Using the ESP’s WIFI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We need to connect to a hotspot with internet access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We need a service provider to enable via cloud activities such as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Control I/</a:t>
            </a:r>
            <a:r>
              <a:rPr lang="en-US" dirty="0" err="1"/>
              <a:t>Os</a:t>
            </a:r>
            <a:endParaRPr lang="en-US" dirty="0"/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Get and push data to our ESP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There are many cloud service providers out there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 prefer using </a:t>
            </a:r>
            <a:r>
              <a:rPr lang="en-US" dirty="0" err="1"/>
              <a:t>Blynk</a:t>
            </a:r>
            <a:r>
              <a:rPr lang="en-US" dirty="0"/>
              <a:t> (more on the next slide </a:t>
            </a:r>
            <a:r>
              <a:rPr lang="en-US" dirty="0">
                <a:sym typeface="Wingdings" panose="05000000000000000000" pitchFamily="2" charset="2"/>
              </a:rPr>
              <a:t>)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6A41D2-0362-4A72-9A6B-AE89ACCD6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976" y="2432050"/>
            <a:ext cx="3252639" cy="229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005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/>
              <a:t>IOT – BLYNK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15109"/>
            <a:ext cx="8228012" cy="3914042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Works via application on a phone or tablet (No web or PC apps)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Can work via Wi-Fi or Bluetooth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The application is very easy to use and very powerful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Code is extremely simple to manipulate using a dedicated library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Has a code wizard generator on their website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Wi-Fi and Bluetooth code is the same, only small change in initialization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Automatic application sync for all used devices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Android supports widgets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We can use </a:t>
            </a:r>
            <a:r>
              <a:rPr lang="en-US" b="1" dirty="0"/>
              <a:t>our own </a:t>
            </a:r>
            <a:r>
              <a:rPr lang="en-US" dirty="0"/>
              <a:t>server!! (RPI4)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Blynk</a:t>
            </a:r>
            <a:r>
              <a:rPr lang="en-US" dirty="0"/>
              <a:t> have a service to generate an application for us to be published on app store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Look at the course GIT for a user guide and a demo code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BC285A-91F1-48A8-A47B-91608C0FC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473" y="155257"/>
            <a:ext cx="1105054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9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BD704F-9F97-45CE-8123-EC124FC3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E94B41-0E83-44E8-A5A7-9E145F9D8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4703"/>
          </a:xfrm>
        </p:spPr>
        <p:txBody>
          <a:bodyPr/>
          <a:lstStyle/>
          <a:p>
            <a:r>
              <a:rPr lang="en-US" dirty="0"/>
              <a:t>FW update to our IOT device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51509D-3026-4955-A8C4-45DF800E807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10535"/>
            <a:ext cx="8228012" cy="391861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IOT device without OTA (Over The Air Update) is probably not and IOT device </a:t>
            </a:r>
            <a:r>
              <a:rPr lang="en-US" sz="1600" dirty="0">
                <a:sym typeface="Wingdings" panose="05000000000000000000" pitchFamily="2" charset="2"/>
              </a:rPr>
              <a:t>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We have few options to update the software of our ESP32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ym typeface="Wingdings" panose="05000000000000000000" pitchFamily="2" charset="2"/>
              </a:rPr>
              <a:t>Automatically Over The Air where the new FW is placed on our GIT account!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Through WEB page running on ESP32’s WEB server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From a file residing on a SD card</a:t>
            </a:r>
          </a:p>
        </p:txBody>
      </p:sp>
    </p:spTree>
    <p:extLst>
      <p:ext uri="{BB962C8B-B14F-4D97-AF65-F5344CB8AC3E}">
        <p14:creationId xmlns:p14="http://schemas.microsoft.com/office/powerpoint/2010/main" val="3879790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DA242B-88B8-4AE7-A086-9AC916AAC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211903-9B14-4AA7-8344-430645755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95690"/>
          </a:xfrm>
        </p:spPr>
        <p:txBody>
          <a:bodyPr/>
          <a:lstStyle/>
          <a:p>
            <a:r>
              <a:rPr lang="en-US" dirty="0"/>
              <a:t>ESP32’s Partition table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37B76-9879-4DA4-98BE-5E1C575BEE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37517"/>
            <a:ext cx="8228012" cy="389163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enable safe OTA an IOT device must have two SW partitions on its flash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ESP32 gives us the flexibility to control it’s partition table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E4EDDF-619B-43BE-AA59-DB57089B7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170" y="1734965"/>
            <a:ext cx="2993338" cy="292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266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15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nt_PPT Template_ClearPro_16x9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5040-14_HPC_2H18_PPT_v0.2.pptx" id="{7470C74A-D7C8-47AC-A1D4-415D12B61414}" vid="{497F966E-8469-4AF9-BF35-3D3A7641C986}"/>
    </a:ext>
  </a:extLst>
</a:theme>
</file>

<file path=ppt/theme/theme2.xml><?xml version="1.0" encoding="utf-8"?>
<a:theme xmlns:a="http://schemas.openxmlformats.org/drawingml/2006/main" name="1_Int_PPT Template_ClearPro_16x9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5040-14_HPC_2H18_PPT_v0.2.pptx" id="{7470C74A-D7C8-47AC-A1D4-415D12B61414}" vid="{E2EF9F45-09E2-46BE-BF2F-0219EF15023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2h2018-hpc-event-playbook-powerpoint-template</Template>
  <TotalTime>0</TotalTime>
  <Words>1077</Words>
  <Application>Microsoft Office PowerPoint</Application>
  <PresentationFormat>On-screen Show (16:9)</PresentationFormat>
  <Paragraphs>185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Intel Clear</vt:lpstr>
      <vt:lpstr>Intel Clear Pro</vt:lpstr>
      <vt:lpstr>Wingdings</vt:lpstr>
      <vt:lpstr>Int_PPT Template_ClearPro_16x9</vt:lpstr>
      <vt:lpstr>1_Int_PPT Template_ClearPro_16x9</vt:lpstr>
      <vt:lpstr>Maker’s university –  by intel’s makers community class 5 – IOT &amp; Remote access</vt:lpstr>
      <vt:lpstr>PowerPoint Presentation</vt:lpstr>
      <vt:lpstr>Class 5 agenda:</vt:lpstr>
      <vt:lpstr>Class 6 agenda:</vt:lpstr>
      <vt:lpstr>IOT</vt:lpstr>
      <vt:lpstr>Wi-fi basics</vt:lpstr>
      <vt:lpstr>Wi-fi basics: AP and sta</vt:lpstr>
      <vt:lpstr>Wi-fi basics: our esp32 </vt:lpstr>
      <vt:lpstr>HTML</vt:lpstr>
      <vt:lpstr>webserver</vt:lpstr>
      <vt:lpstr>Webserver – what can we do with it</vt:lpstr>
      <vt:lpstr>Webserver – work flow</vt:lpstr>
      <vt:lpstr>Webserver – Init code</vt:lpstr>
      <vt:lpstr>Webserver – INIT code</vt:lpstr>
      <vt:lpstr>Webserver – html data</vt:lpstr>
      <vt:lpstr>Webserver – html data</vt:lpstr>
      <vt:lpstr>How does it looks…</vt:lpstr>
      <vt:lpstr>Webserver – handle the client</vt:lpstr>
      <vt:lpstr>Webserver – processing incoming data</vt:lpstr>
      <vt:lpstr>Multicast DNS</vt:lpstr>
      <vt:lpstr>No mdns on Android so… (buy an iPhone  or)</vt:lpstr>
      <vt:lpstr>PowerPoint Presentation</vt:lpstr>
      <vt:lpstr>Esp-now </vt:lpstr>
      <vt:lpstr>IOT – Controlling our ESP32 over the cloud</vt:lpstr>
      <vt:lpstr>IOT – BLYNK</vt:lpstr>
      <vt:lpstr>FW update to our IOT device</vt:lpstr>
      <vt:lpstr>ESP32’s Partition table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CTPClassification=CTP_NT</cp:keywords>
  <cp:lastModifiedBy/>
  <cp:revision>1</cp:revision>
  <dcterms:created xsi:type="dcterms:W3CDTF">2019-01-09T10:17:12Z</dcterms:created>
  <dcterms:modified xsi:type="dcterms:W3CDTF">2024-05-15T13:11:36Z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8fe81c37-8eff-4c5b-bc02-9bf0e84d8565</vt:lpwstr>
  </property>
  <property fmtid="{D5CDD505-2E9C-101B-9397-08002B2CF9AE}" pid="3" name="CTP_TimeStamp">
    <vt:lpwstr>2020-02-18 19:22:10Z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