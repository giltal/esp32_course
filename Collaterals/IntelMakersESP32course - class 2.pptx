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648" r:id="rId1"/>
    <p:sldMasterId id="2147483691" r:id="rId2"/>
  </p:sldMasterIdLst>
  <p:notesMasterIdLst>
    <p:notesMasterId r:id="rId36"/>
  </p:notesMasterIdLst>
  <p:handoutMasterIdLst>
    <p:handoutMasterId r:id="rId37"/>
  </p:handoutMasterIdLst>
  <p:sldIdLst>
    <p:sldId id="318" r:id="rId3"/>
    <p:sldId id="321" r:id="rId4"/>
    <p:sldId id="349" r:id="rId5"/>
    <p:sldId id="370" r:id="rId6"/>
    <p:sldId id="361" r:id="rId7"/>
    <p:sldId id="369" r:id="rId8"/>
    <p:sldId id="362" r:id="rId9"/>
    <p:sldId id="371" r:id="rId10"/>
    <p:sldId id="374" r:id="rId11"/>
    <p:sldId id="372" r:id="rId12"/>
    <p:sldId id="373" r:id="rId13"/>
    <p:sldId id="375" r:id="rId14"/>
    <p:sldId id="376" r:id="rId15"/>
    <p:sldId id="377" r:id="rId16"/>
    <p:sldId id="378" r:id="rId17"/>
    <p:sldId id="350" r:id="rId18"/>
    <p:sldId id="357" r:id="rId19"/>
    <p:sldId id="360" r:id="rId20"/>
    <p:sldId id="351" r:id="rId21"/>
    <p:sldId id="368" r:id="rId22"/>
    <p:sldId id="380" r:id="rId23"/>
    <p:sldId id="352" r:id="rId24"/>
    <p:sldId id="381" r:id="rId25"/>
    <p:sldId id="382" r:id="rId26"/>
    <p:sldId id="358" r:id="rId27"/>
    <p:sldId id="359" r:id="rId28"/>
    <p:sldId id="383" r:id="rId29"/>
    <p:sldId id="384" r:id="rId30"/>
    <p:sldId id="385" r:id="rId31"/>
    <p:sldId id="386" r:id="rId32"/>
    <p:sldId id="387" r:id="rId33"/>
    <p:sldId id="367" r:id="rId34"/>
    <p:sldId id="294" r:id="rId3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6" orient="horz" pos="1620" userDrawn="1">
          <p15:clr>
            <a:srgbClr val="A4A3A4"/>
          </p15:clr>
        </p15:guide>
        <p15:guide id="7" pos="5470">
          <p15:clr>
            <a:srgbClr val="A4A3A4"/>
          </p15:clr>
        </p15:guide>
        <p15:guide id="8" pos="28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CE3E"/>
    <a:srgbClr val="0071C5"/>
    <a:srgbClr val="F83308"/>
    <a:srgbClr val="FD9208"/>
    <a:srgbClr val="009FDF"/>
    <a:srgbClr val="F3D54E"/>
    <a:srgbClr val="003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54" autoAdjust="0"/>
    <p:restoredTop sz="94634" autoAdjust="0"/>
  </p:normalViewPr>
  <p:slideViewPr>
    <p:cSldViewPr snapToGrid="0">
      <p:cViewPr varScale="1">
        <p:scale>
          <a:sx n="128" d="100"/>
          <a:sy n="128" d="100"/>
        </p:scale>
        <p:origin x="1972" y="68"/>
      </p:cViewPr>
      <p:guideLst>
        <p:guide orient="horz" pos="1620"/>
        <p:guide pos="5470"/>
        <p:guide pos="2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6" d="100"/>
        <a:sy n="86" d="100"/>
      </p:scale>
      <p:origin x="0" y="0"/>
    </p:cViewPr>
  </p:sorterViewPr>
  <p:notesViewPr>
    <p:cSldViewPr snapToGrid="0" showGuides="1">
      <p:cViewPr varScale="1">
        <p:scale>
          <a:sx n="63" d="100"/>
          <a:sy n="63" d="100"/>
        </p:scale>
        <p:origin x="2285" y="53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Intel Clear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CFD7B2-88A6-E34E-8EF8-CB0C7BA47ADD}" type="datetimeFigureOut">
              <a:rPr lang="en-US" smtClean="0">
                <a:latin typeface="Intel Clear"/>
              </a:rPr>
              <a:pPr/>
              <a:t>8/7/2024</a:t>
            </a:fld>
            <a:endParaRPr lang="en-US" dirty="0">
              <a:latin typeface="Intel Clear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Intel Clear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6CFA4E-18EB-6D49-8DE2-7A74038C2C1C}" type="slidenum">
              <a:rPr lang="en-US" smtClean="0">
                <a:latin typeface="Intel Clear"/>
              </a:rPr>
              <a:pPr/>
              <a:t>‹#›</a:t>
            </a:fld>
            <a:endParaRPr lang="en-US" dirty="0">
              <a:latin typeface="Intel Clear"/>
            </a:endParaRPr>
          </a:p>
        </p:txBody>
      </p:sp>
    </p:spTree>
    <p:extLst>
      <p:ext uri="{BB962C8B-B14F-4D97-AF65-F5344CB8AC3E}">
        <p14:creationId xmlns:p14="http://schemas.microsoft.com/office/powerpoint/2010/main" val="91299412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Intel Clear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Intel Clear"/>
              </a:defRPr>
            </a:lvl1pPr>
          </a:lstStyle>
          <a:p>
            <a:fld id="{ED7FC5FE-6F0D-D34A-8EE6-C95B4F5F4DC8}" type="datetimeFigureOut">
              <a:rPr lang="en-US" smtClean="0"/>
              <a:pPr/>
              <a:t>8/7/2024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Intel Clear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Intel Clear"/>
              </a:defRPr>
            </a:lvl1pPr>
          </a:lstStyle>
          <a:p>
            <a:fld id="{D61C8689-8455-3546-ADF9-3B7273760F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42922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073A99-573F-0C42-84F0-9F8D3B98F8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65pt Intel Clear pro Title</a:t>
            </a:r>
            <a:br>
              <a:rPr lang="en-US" dirty="0"/>
            </a:br>
            <a:r>
              <a:rPr lang="en-US" dirty="0"/>
              <a:t>with Linear gradient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692441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9193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3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AD3550-441D-0F48-9656-F28389FF4C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65pt Intel Clear pro Title</a:t>
            </a:r>
            <a:br>
              <a:rPr lang="en-US" dirty="0"/>
            </a:br>
            <a:r>
              <a:rPr lang="en-US" dirty="0"/>
              <a:t>with Linear gradient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692441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9349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073A99-573F-0C42-84F0-9F8D3B98F8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682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AD3550-441D-0F48-9656-F28389FF4C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181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Pr>
        <a:gradFill>
          <a:gsLst>
            <a:gs pos="30000">
              <a:schemeClr val="tx2"/>
            </a:gs>
            <a:gs pos="100000">
              <a:srgbClr val="009FDF"/>
            </a:gs>
            <a:gs pos="65000">
              <a:srgbClr val="0071C5"/>
            </a:gs>
          </a:gsLst>
          <a:lin ang="198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47688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65pt Intel Clear pro Title</a:t>
            </a:r>
            <a:br>
              <a:rPr lang="en-US" dirty="0"/>
            </a:br>
            <a:r>
              <a:rPr lang="en-US" dirty="0"/>
              <a:t>with image</a:t>
            </a:r>
          </a:p>
        </p:txBody>
      </p:sp>
      <p:sp>
        <p:nvSpPr>
          <p:cNvPr id="1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493008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</p:spTree>
    <p:extLst>
      <p:ext uri="{BB962C8B-B14F-4D97-AF65-F5344CB8AC3E}">
        <p14:creationId xmlns:p14="http://schemas.microsoft.com/office/powerpoint/2010/main" val="180832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>
              <a:defRPr b="0" i="0" baseline="0">
                <a:solidFill>
                  <a:schemeClr val="tx2"/>
                </a:solidFill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defRPr>
            </a:lvl1pPr>
          </a:lstStyle>
          <a:p>
            <a:r>
              <a:rPr lang="en-US" dirty="0"/>
              <a:t>33pt Intel Clear Pro Headline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455613" y="1203325"/>
            <a:ext cx="8228012" cy="3425825"/>
          </a:xfrm>
        </p:spPr>
        <p:txBody>
          <a:bodyPr/>
          <a:lstStyle>
            <a:lvl1pPr>
              <a:defRPr>
                <a:solidFill>
                  <a:srgbClr val="0071C5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18pt Intel Clear body text</a:t>
            </a:r>
          </a:p>
          <a:p>
            <a:pPr lvl="1"/>
            <a:r>
              <a:rPr lang="en-US" dirty="0"/>
              <a:t>18pt Intel Clear bullet one</a:t>
            </a:r>
          </a:p>
          <a:p>
            <a:pPr lvl="2"/>
            <a:r>
              <a:rPr lang="en-US" dirty="0"/>
              <a:t>18pt Intel Clear sub-bullet</a:t>
            </a:r>
          </a:p>
          <a:p>
            <a:pPr lvl="3"/>
            <a:r>
              <a:rPr lang="en-US" dirty="0"/>
              <a:t>16pt Intel Clear fourth level</a:t>
            </a:r>
          </a:p>
          <a:p>
            <a:pPr lvl="4"/>
            <a:r>
              <a:rPr lang="en-US" dirty="0" err="1"/>
              <a:t>14pt</a:t>
            </a:r>
            <a:r>
              <a:rPr lang="en-US" dirty="0"/>
              <a:t> Intel Clear fifth level</a:t>
            </a:r>
          </a:p>
        </p:txBody>
      </p:sp>
    </p:spTree>
    <p:extLst>
      <p:ext uri="{BB962C8B-B14F-4D97-AF65-F5344CB8AC3E}">
        <p14:creationId xmlns:p14="http://schemas.microsoft.com/office/powerpoint/2010/main" val="1358511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4"/>
            <a:ext cx="4006851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8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830763" y="943430"/>
            <a:ext cx="3181123" cy="16709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sz="1800">
                <a:latin typeface="Intel Clear"/>
              </a:defRPr>
            </a:lvl1pPr>
          </a:lstStyle>
          <a:p>
            <a:r>
              <a:rPr lang="en-US" sz="1100">
                <a:latin typeface="Arial"/>
              </a:rPr>
              <a:t>Click icon to add picture</a:t>
            </a:r>
            <a:endParaRPr lang="en-US" sz="1100" dirty="0">
              <a:latin typeface="Arial"/>
            </a:endParaRPr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4830763" y="2843897"/>
            <a:ext cx="3181123" cy="16709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sz="1800">
                <a:latin typeface="Intel Clear"/>
              </a:defRPr>
            </a:lvl1pPr>
          </a:lstStyle>
          <a:p>
            <a:r>
              <a:rPr lang="en-US" sz="1100">
                <a:latin typeface="Arial"/>
              </a:rPr>
              <a:t>Click icon to add picture</a:t>
            </a:r>
            <a:endParaRPr lang="en-US" sz="110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98914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4"/>
            <a:ext cx="4006851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678363" y="1203324"/>
            <a:ext cx="4005264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8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063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Attribu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5613" y="1203325"/>
            <a:ext cx="8228013" cy="3425825"/>
          </a:xfrm>
        </p:spPr>
        <p:txBody>
          <a:bodyPr anchor="ctr" anchorCtr="0"/>
          <a:lstStyle>
            <a:lvl1pPr marL="190500" indent="-190500">
              <a:defRPr sz="3600" b="1" baseline="0">
                <a:solidFill>
                  <a:schemeClr val="accent1"/>
                </a:solidFill>
                <a:latin typeface="+mn-lt"/>
                <a:cs typeface="Intel Clear"/>
              </a:defRPr>
            </a:lvl1pPr>
            <a:lvl2pPr marL="417513" indent="-225425">
              <a:buFont typeface="Intel Clear" pitchFamily="34" charset="0"/>
              <a:buChar char="–"/>
              <a:defRPr sz="1200" baseline="0">
                <a:latin typeface="+mn-lt"/>
                <a:cs typeface="Intel Clear" panose="020B0604020203020204" pitchFamily="34" charset="0"/>
              </a:defRPr>
            </a:lvl2pPr>
            <a:lvl3pPr marL="685800" indent="-228600">
              <a:buFont typeface="Intel Clear" pitchFamily="34" charset="0"/>
              <a:buChar char="–"/>
              <a:defRPr sz="1200">
                <a:latin typeface="+mn-lt"/>
              </a:defRPr>
            </a:lvl3pPr>
            <a:lvl4pPr>
              <a:buFont typeface="Intel Clear" pitchFamily="34" charset="0"/>
              <a:buChar char="–"/>
              <a:defRPr sz="1100">
                <a:latin typeface="+mn-lt"/>
              </a:defRPr>
            </a:lvl4pPr>
            <a:lvl5pPr>
              <a:buFont typeface="Intel Clear" pitchFamily="34" charset="0"/>
              <a:buChar char="–"/>
              <a:defRPr sz="1050">
                <a:latin typeface="+mn-lt"/>
              </a:defRPr>
            </a:lvl5pPr>
          </a:lstStyle>
          <a:p>
            <a:pPr lvl="0"/>
            <a:r>
              <a:rPr lang="en-US" dirty="0"/>
              <a:t>“36pt Intel Clear Bold Text”</a:t>
            </a:r>
          </a:p>
          <a:p>
            <a:pPr lvl="1"/>
            <a:r>
              <a:rPr lang="en-US" dirty="0" err="1"/>
              <a:t>12pt</a:t>
            </a:r>
            <a:r>
              <a:rPr lang="en-US" dirty="0"/>
              <a:t> Attribution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946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47688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207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Bottom Half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2574131"/>
            <a:ext cx="9144000" cy="2194719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5"/>
            <a:ext cx="4006851" cy="130929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5" hasCustomPrompt="1"/>
          </p:nvPr>
        </p:nvSpPr>
        <p:spPr>
          <a:xfrm>
            <a:off x="4678363" y="1203325"/>
            <a:ext cx="4005264" cy="130929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1009487" y="4975795"/>
            <a:ext cx="1846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00" dirty="0">
              <a:solidFill>
                <a:schemeClr val="tx2"/>
              </a:solidFill>
              <a:cs typeface="Intel Clear"/>
            </a:endParaRPr>
          </a:p>
        </p:txBody>
      </p:sp>
      <p:sp>
        <p:nvSpPr>
          <p:cNvPr id="10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689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4678363" y="1"/>
            <a:ext cx="4465637" cy="4768849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4006850" cy="868680"/>
          </a:xfrm>
        </p:spPr>
        <p:txBody>
          <a:bodyPr>
            <a:noAutofit/>
          </a:bodyPr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4" y="1325244"/>
            <a:ext cx="4006850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</p:spTree>
    <p:extLst>
      <p:ext uri="{BB962C8B-B14F-4D97-AF65-F5344CB8AC3E}">
        <p14:creationId xmlns:p14="http://schemas.microsoft.com/office/powerpoint/2010/main" val="2900421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tx2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white section break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baseline="0">
                <a:solidFill>
                  <a:schemeClr val="accent2"/>
                </a:solidFill>
                <a:latin typeface="+mn-lt"/>
                <a:cs typeface="Intel Clear" panose="020B0604020203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72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2_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83CB34-7304-ED41-AF00-05CDDF90D7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3153859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1A6966-524D-364A-9F32-0520C94D5D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3201034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1110112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2234882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0" baseline="0">
                <a:solidFill>
                  <a:schemeClr val="accent2"/>
                </a:solidFill>
                <a:latin typeface="Intel Clear"/>
                <a:ea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40pt Intel Clear Light Body.</a:t>
            </a:r>
            <a:br>
              <a:rPr lang="en-US" dirty="0"/>
            </a:br>
            <a:r>
              <a:rPr lang="en-US" dirty="0"/>
              <a:t>For content that is not a section, but has a big idea in text only.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1101794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4000" b="0" cap="none" spc="0" baseline="0">
                <a:solidFill>
                  <a:schemeClr val="tx2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40pt Intel Clear Heading</a:t>
            </a:r>
          </a:p>
        </p:txBody>
      </p:sp>
    </p:spTree>
    <p:extLst>
      <p:ext uri="{BB962C8B-B14F-4D97-AF65-F5344CB8AC3E}">
        <p14:creationId xmlns:p14="http://schemas.microsoft.com/office/powerpoint/2010/main" val="4001256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Section Break Image">
    <p:bg>
      <p:bgPr>
        <a:gradFill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2260088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 blue section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3348787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baseline="0">
                <a:solidFill>
                  <a:schemeClr val="accent3"/>
                </a:solidFill>
                <a:latin typeface="+mn-lt"/>
                <a:cs typeface="Intel Clear" panose="020B0604020203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9144000" cy="2574131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baseline="0">
                <a:solidFill>
                  <a:srgbClr val="0071C5"/>
                </a:solidFill>
              </a:defRPr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</p:spTree>
    <p:extLst>
      <p:ext uri="{BB962C8B-B14F-4D97-AF65-F5344CB8AC3E}">
        <p14:creationId xmlns:p14="http://schemas.microsoft.com/office/powerpoint/2010/main" val="3843762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6"/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16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961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ack Cover Radial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\\.psf\Home\Desktop\Inte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7432" y="1875130"/>
            <a:ext cx="2108795" cy="1389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7009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ack Cover Radial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t_experience_hrz_wht_rgb_300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8779" y="1874822"/>
            <a:ext cx="3646443" cy="151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831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073A99-573F-0C42-84F0-9F8D3B98F8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65pt Intel Clear pro Title</a:t>
            </a:r>
            <a:br>
              <a:rPr lang="en-US" dirty="0"/>
            </a:br>
            <a:r>
              <a:rPr lang="en-US" dirty="0"/>
              <a:t>with Linear gradient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692441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8273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3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AD3550-441D-0F48-9656-F28389FF4C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65pt Intel Clear pro Title</a:t>
            </a:r>
            <a:br>
              <a:rPr lang="en-US" dirty="0"/>
            </a:br>
            <a:r>
              <a:rPr lang="en-US" dirty="0"/>
              <a:t>with Linear gradient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692441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0254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073A99-573F-0C42-84F0-9F8D3B98F8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430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AD3550-441D-0F48-9656-F28389FF4C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89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Pr>
        <a:gradFill>
          <a:gsLst>
            <a:gs pos="30000">
              <a:schemeClr val="tx2"/>
            </a:gs>
            <a:gs pos="100000">
              <a:srgbClr val="009FDF"/>
            </a:gs>
            <a:gs pos="65000">
              <a:srgbClr val="0071C5"/>
            </a:gs>
          </a:gsLst>
          <a:lin ang="198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47688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65pt Intel Clear pro Title</a:t>
            </a:r>
            <a:br>
              <a:rPr lang="en-US" dirty="0"/>
            </a:br>
            <a:r>
              <a:rPr lang="en-US" dirty="0"/>
              <a:t>with image</a:t>
            </a:r>
          </a:p>
        </p:txBody>
      </p:sp>
      <p:sp>
        <p:nvSpPr>
          <p:cNvPr id="1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493008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</p:spTree>
    <p:extLst>
      <p:ext uri="{BB962C8B-B14F-4D97-AF65-F5344CB8AC3E}">
        <p14:creationId xmlns:p14="http://schemas.microsoft.com/office/powerpoint/2010/main" val="4029503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>
              <a:defRPr b="0" i="0" baseline="0">
                <a:solidFill>
                  <a:schemeClr val="tx2"/>
                </a:solidFill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defRPr>
            </a:lvl1pPr>
          </a:lstStyle>
          <a:p>
            <a:r>
              <a:rPr lang="en-US" dirty="0"/>
              <a:t>33pt Intel Clear Pro Headline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455613" y="1203325"/>
            <a:ext cx="8228012" cy="3425825"/>
          </a:xfrm>
        </p:spPr>
        <p:txBody>
          <a:bodyPr/>
          <a:lstStyle>
            <a:lvl1pPr>
              <a:defRPr>
                <a:solidFill>
                  <a:srgbClr val="0071C5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18pt Intel Clear body text</a:t>
            </a:r>
          </a:p>
          <a:p>
            <a:pPr lvl="1"/>
            <a:r>
              <a:rPr lang="en-US" dirty="0"/>
              <a:t>18pt Intel Clear bullet one</a:t>
            </a:r>
          </a:p>
          <a:p>
            <a:pPr lvl="2"/>
            <a:r>
              <a:rPr lang="en-US" dirty="0"/>
              <a:t>18pt Intel Clear sub-bullet</a:t>
            </a:r>
          </a:p>
          <a:p>
            <a:pPr lvl="3"/>
            <a:r>
              <a:rPr lang="en-US" dirty="0"/>
              <a:t>16pt Intel Clear fourth level</a:t>
            </a:r>
          </a:p>
          <a:p>
            <a:pPr lvl="4"/>
            <a:r>
              <a:rPr lang="en-US" dirty="0" err="1"/>
              <a:t>14pt</a:t>
            </a:r>
            <a:r>
              <a:rPr lang="en-US" dirty="0"/>
              <a:t> Intel Clear fifth level</a:t>
            </a:r>
          </a:p>
        </p:txBody>
      </p:sp>
    </p:spTree>
    <p:extLst>
      <p:ext uri="{BB962C8B-B14F-4D97-AF65-F5344CB8AC3E}">
        <p14:creationId xmlns:p14="http://schemas.microsoft.com/office/powerpoint/2010/main" val="3186082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4"/>
            <a:ext cx="4006851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8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830763" y="943430"/>
            <a:ext cx="3181123" cy="16709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sz="1800">
                <a:latin typeface="Intel Clear"/>
              </a:defRPr>
            </a:lvl1pPr>
          </a:lstStyle>
          <a:p>
            <a:endParaRPr lang="en-US" sz="1100" dirty="0">
              <a:latin typeface="Arial"/>
            </a:endParaRPr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4830763" y="2843897"/>
            <a:ext cx="3181123" cy="16709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sz="1800">
                <a:latin typeface="Intel Clear"/>
              </a:defRPr>
            </a:lvl1pPr>
          </a:lstStyle>
          <a:p>
            <a:endParaRPr lang="en-US" sz="110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9493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4"/>
            <a:ext cx="4006851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678363" y="1203324"/>
            <a:ext cx="4005264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8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658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Attribu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5613" y="1203325"/>
            <a:ext cx="8228013" cy="3425825"/>
          </a:xfrm>
        </p:spPr>
        <p:txBody>
          <a:bodyPr anchor="ctr" anchorCtr="0"/>
          <a:lstStyle>
            <a:lvl1pPr marL="190500" indent="-190500">
              <a:defRPr sz="3600" b="1" baseline="0">
                <a:solidFill>
                  <a:schemeClr val="accent1"/>
                </a:solidFill>
                <a:latin typeface="+mn-lt"/>
                <a:cs typeface="Intel Clear"/>
              </a:defRPr>
            </a:lvl1pPr>
            <a:lvl2pPr marL="417513" indent="-225425">
              <a:buFont typeface="Intel Clear" pitchFamily="34" charset="0"/>
              <a:buChar char="–"/>
              <a:defRPr sz="1200" baseline="0">
                <a:latin typeface="+mn-lt"/>
                <a:cs typeface="Intel Clear" panose="020B0604020203020204" pitchFamily="34" charset="0"/>
              </a:defRPr>
            </a:lvl2pPr>
            <a:lvl3pPr marL="685800" indent="-228600">
              <a:buFont typeface="Intel Clear" pitchFamily="34" charset="0"/>
              <a:buChar char="–"/>
              <a:defRPr sz="1200">
                <a:latin typeface="+mn-lt"/>
              </a:defRPr>
            </a:lvl3pPr>
            <a:lvl4pPr>
              <a:buFont typeface="Intel Clear" pitchFamily="34" charset="0"/>
              <a:buChar char="–"/>
              <a:defRPr sz="1100">
                <a:latin typeface="+mn-lt"/>
              </a:defRPr>
            </a:lvl4pPr>
            <a:lvl5pPr>
              <a:buFont typeface="Intel Clear" pitchFamily="34" charset="0"/>
              <a:buChar char="–"/>
              <a:defRPr sz="1050">
                <a:latin typeface="+mn-lt"/>
              </a:defRPr>
            </a:lvl5pPr>
          </a:lstStyle>
          <a:p>
            <a:pPr lvl="0"/>
            <a:r>
              <a:rPr lang="en-US" dirty="0"/>
              <a:t>“36pt Intel Clear Bold Text”</a:t>
            </a:r>
          </a:p>
          <a:p>
            <a:pPr lvl="1"/>
            <a:r>
              <a:rPr lang="en-US" dirty="0" err="1"/>
              <a:t>12pt</a:t>
            </a:r>
            <a:r>
              <a:rPr lang="en-US" dirty="0"/>
              <a:t> Attribution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86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47688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758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Bottom Half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2574131"/>
            <a:ext cx="9144000" cy="2194719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5"/>
            <a:ext cx="4006851" cy="130929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5" hasCustomPrompt="1"/>
          </p:nvPr>
        </p:nvSpPr>
        <p:spPr>
          <a:xfrm>
            <a:off x="4678363" y="1203325"/>
            <a:ext cx="4005264" cy="130929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1009487" y="4975795"/>
            <a:ext cx="1846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00" dirty="0">
              <a:solidFill>
                <a:schemeClr val="tx2"/>
              </a:solidFill>
              <a:cs typeface="Intel Clear"/>
            </a:endParaRPr>
          </a:p>
        </p:txBody>
      </p:sp>
      <p:sp>
        <p:nvSpPr>
          <p:cNvPr id="10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277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4678363" y="1"/>
            <a:ext cx="4465637" cy="4768849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4006850" cy="868680"/>
          </a:xfrm>
        </p:spPr>
        <p:txBody>
          <a:bodyPr>
            <a:noAutofit/>
          </a:bodyPr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4" y="1325244"/>
            <a:ext cx="4006850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</p:spTree>
    <p:extLst>
      <p:ext uri="{BB962C8B-B14F-4D97-AF65-F5344CB8AC3E}">
        <p14:creationId xmlns:p14="http://schemas.microsoft.com/office/powerpoint/2010/main" val="2126613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tx2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white section break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baseline="0">
                <a:solidFill>
                  <a:schemeClr val="accent2"/>
                </a:solidFill>
                <a:latin typeface="+mn-lt"/>
                <a:cs typeface="Intel Clear" panose="020B0604020203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852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2_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83CB34-7304-ED41-AF00-05CDDF90D7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2875753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1A6966-524D-364A-9F32-0520C94D5D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415824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109834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2234882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0" baseline="0">
                <a:solidFill>
                  <a:schemeClr val="accent2"/>
                </a:solidFill>
                <a:latin typeface="Intel Clear"/>
                <a:ea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40pt Intel Clear Light Body.</a:t>
            </a:r>
            <a:br>
              <a:rPr lang="en-US" dirty="0"/>
            </a:br>
            <a:r>
              <a:rPr lang="en-US" dirty="0"/>
              <a:t>For content that is not a section, but has a big idea in text only.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1101794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4000" b="0" cap="none" spc="0" baseline="0">
                <a:solidFill>
                  <a:schemeClr val="tx2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40pt Intel Clear Heading</a:t>
            </a:r>
          </a:p>
        </p:txBody>
      </p:sp>
    </p:spTree>
    <p:extLst>
      <p:ext uri="{BB962C8B-B14F-4D97-AF65-F5344CB8AC3E}">
        <p14:creationId xmlns:p14="http://schemas.microsoft.com/office/powerpoint/2010/main" val="1070940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Section Break Image">
    <p:bg>
      <p:bgPr>
        <a:gradFill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2260088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 blue section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3348787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baseline="0">
                <a:solidFill>
                  <a:schemeClr val="accent3"/>
                </a:solidFill>
                <a:latin typeface="+mn-lt"/>
                <a:cs typeface="Intel Clear" panose="020B0604020203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9144000" cy="2574131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baseline="0">
                <a:solidFill>
                  <a:srgbClr val="0071C5"/>
                </a:solidFill>
              </a:defRPr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</p:spTree>
    <p:extLst>
      <p:ext uri="{BB962C8B-B14F-4D97-AF65-F5344CB8AC3E}">
        <p14:creationId xmlns:p14="http://schemas.microsoft.com/office/powerpoint/2010/main" val="2384580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6"/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450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88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ack Cover Radial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\\.psf\Home\Desktop\Inte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7432" y="1875130"/>
            <a:ext cx="2108795" cy="1389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8015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ack Cover Radial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t_experience_hrz_wht_rgb_300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8779" y="1874822"/>
            <a:ext cx="3646443" cy="151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963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43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42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24" Type="http://schemas.openxmlformats.org/officeDocument/2006/relationships/image" Target="../media/image1.jpg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41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Relationship Id="rId22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3BF46A5-D99E-714B-96C7-B8EACE0125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4"/>
          <a:srcRect t="92533"/>
          <a:stretch/>
        </p:blipFill>
        <p:spPr>
          <a:xfrm>
            <a:off x="0" y="4759452"/>
            <a:ext cx="9144000" cy="384048"/>
          </a:xfrm>
          <a:prstGeom prst="rect">
            <a:avLst/>
          </a:prstGeom>
        </p:spPr>
      </p:pic>
      <p:pic>
        <p:nvPicPr>
          <p:cNvPr id="11" name="Picture 2" descr="\\.psf\Home\Desktop\Intel.png"/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915" y="4830589"/>
            <a:ext cx="364336" cy="240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/>
          <p:cNvCxnSpPr/>
          <p:nvPr/>
        </p:nvCxnSpPr>
        <p:spPr>
          <a:xfrm>
            <a:off x="8718551" y="4824510"/>
            <a:ext cx="2381" cy="237744"/>
          </a:xfrm>
          <a:prstGeom prst="line">
            <a:avLst/>
          </a:prstGeom>
          <a:ln w="9525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5613" y="310130"/>
            <a:ext cx="8229600" cy="8686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33pt Intel Clear Pro Headline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5613" y="1203325"/>
            <a:ext cx="8228012" cy="34258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18pt Intel Clear body text</a:t>
            </a:r>
          </a:p>
          <a:p>
            <a:pPr lvl="1"/>
            <a:r>
              <a:rPr lang="en-US" dirty="0"/>
              <a:t>16pt Intel Clear bullet one</a:t>
            </a:r>
          </a:p>
          <a:p>
            <a:pPr lvl="2"/>
            <a:r>
              <a:rPr lang="en-US" dirty="0"/>
              <a:t>16pt Intel Clear sub-bullet</a:t>
            </a:r>
          </a:p>
          <a:p>
            <a:pPr lvl="3"/>
            <a:r>
              <a:rPr lang="en-US" dirty="0" err="1"/>
              <a:t>14pt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14pt</a:t>
            </a:r>
            <a:r>
              <a:rPr lang="en-US" dirty="0"/>
              <a:t> Intel Clear 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72352" y="4824387"/>
            <a:ext cx="2133600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+mn-lt"/>
                <a:cs typeface="Intel Clear"/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C06F2D-A48C-414B-96E9-DB0F3CD67C4D}"/>
              </a:ext>
            </a:extLst>
          </p:cNvPr>
          <p:cNvSpPr txBox="1"/>
          <p:nvPr userDrawn="1"/>
        </p:nvSpPr>
        <p:spPr>
          <a:xfrm>
            <a:off x="455613" y="4809976"/>
            <a:ext cx="1263166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Scale Your Innovation</a:t>
            </a:r>
          </a:p>
        </p:txBody>
      </p:sp>
    </p:spTree>
    <p:extLst>
      <p:ext uri="{BB962C8B-B14F-4D97-AF65-F5344CB8AC3E}">
        <p14:creationId xmlns:p14="http://schemas.microsoft.com/office/powerpoint/2010/main" val="3786227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7" r:id="rId2"/>
    <p:sldLayoutId id="2147483714" r:id="rId3"/>
    <p:sldLayoutId id="2147483715" r:id="rId4"/>
    <p:sldLayoutId id="2147483674" r:id="rId5"/>
    <p:sldLayoutId id="2147483650" r:id="rId6"/>
    <p:sldLayoutId id="2147483684" r:id="rId7"/>
    <p:sldLayoutId id="2147483652" r:id="rId8"/>
    <p:sldLayoutId id="2147483660" r:id="rId9"/>
    <p:sldLayoutId id="2147483668" r:id="rId10"/>
    <p:sldLayoutId id="2147483669" r:id="rId11"/>
    <p:sldLayoutId id="2147483670" r:id="rId12"/>
    <p:sldLayoutId id="2147483672" r:id="rId13"/>
    <p:sldLayoutId id="2147483690" r:id="rId14"/>
    <p:sldLayoutId id="2147483689" r:id="rId15"/>
    <p:sldLayoutId id="2147483651" r:id="rId16"/>
    <p:sldLayoutId id="2147483677" r:id="rId17"/>
    <p:sldLayoutId id="2147483665" r:id="rId18"/>
    <p:sldLayoutId id="2147483654" r:id="rId19"/>
    <p:sldLayoutId id="2147483655" r:id="rId20"/>
    <p:sldLayoutId id="2147483676" r:id="rId21"/>
    <p:sldLayoutId id="2147483681" r:id="rId2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457200" rtl="0" eaLnBrk="1" latinLnBrk="0" hangingPunct="1">
        <a:lnSpc>
          <a:spcPts val="3000"/>
        </a:lnSpc>
        <a:spcBef>
          <a:spcPct val="0"/>
        </a:spcBef>
        <a:buNone/>
        <a:defRPr sz="3300" b="0" i="0" kern="1200" spc="0" baseline="0">
          <a:solidFill>
            <a:schemeClr val="tx2"/>
          </a:solidFill>
          <a:latin typeface="Intel Clear Pro" panose="020B0804020202060201" pitchFamily="34" charset="77"/>
          <a:ea typeface="Intel Clear Pro" panose="020B0804020202060201" pitchFamily="34" charset="77"/>
          <a:cs typeface="Intel Clear Pro" panose="020B0804020202060201" pitchFamily="34" charset="77"/>
        </a:defRPr>
      </a:lvl1pPr>
    </p:titleStyle>
    <p:bodyStyle>
      <a:lvl1pPr marL="0" indent="0" algn="l" defTabSz="457200" rtl="0" eaLnBrk="1" latinLnBrk="0" hangingPunct="1">
        <a:spcBef>
          <a:spcPts val="1200"/>
        </a:spcBef>
        <a:spcAft>
          <a:spcPts val="0"/>
        </a:spcAft>
        <a:buFont typeface="Wingdings" panose="05000000000000000000" pitchFamily="2" charset="2"/>
        <a:buNone/>
        <a:defRPr sz="1800" b="0" kern="1200">
          <a:solidFill>
            <a:srgbClr val="0071C5"/>
          </a:solidFill>
          <a:latin typeface="+mn-lt"/>
          <a:ea typeface="+mn-ea"/>
          <a:cs typeface="Intel Clear" panose="020B0604020203020204" pitchFamily="34" charset="0"/>
        </a:defRPr>
      </a:lvl1pPr>
      <a:lvl2pPr marL="225425" indent="-225425" algn="l" defTabSz="457200" rtl="0" eaLnBrk="1" latinLnBrk="0" hangingPunct="1">
        <a:spcBef>
          <a:spcPts val="1200"/>
        </a:spcBef>
        <a:buFont typeface="Wingdings" charset="2"/>
        <a:buChar char="§"/>
        <a:defRPr sz="1600" kern="1200" baseline="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2pPr>
      <a:lvl3pPr marL="571500" indent="-228600" algn="l" defTabSz="457200" rtl="0" eaLnBrk="1" latinLnBrk="0" hangingPunct="1">
        <a:spcBef>
          <a:spcPts val="800"/>
        </a:spcBef>
        <a:buFont typeface="Intel Clear" panose="020B060402020302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3pPr>
      <a:lvl4pPr marL="969963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4pPr>
      <a:lvl5pPr marL="1319213" indent="-228600" algn="l" defTabSz="457200" rtl="0" eaLnBrk="1" latinLnBrk="0" hangingPunct="1">
        <a:spcBef>
          <a:spcPct val="20000"/>
        </a:spcBef>
        <a:buFont typeface="Intel Clear" panose="020B0604020203020204" pitchFamily="34" charset="0"/>
        <a:buChar char="–"/>
        <a:defRPr sz="14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B1CEF42-63D0-6F46-A408-1623CB42B5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4"/>
          <a:srcRect t="92533"/>
          <a:stretch/>
        </p:blipFill>
        <p:spPr>
          <a:xfrm>
            <a:off x="0" y="4759452"/>
            <a:ext cx="9144000" cy="384048"/>
          </a:xfrm>
          <a:prstGeom prst="rect">
            <a:avLst/>
          </a:prstGeom>
        </p:spPr>
      </p:pic>
      <p:pic>
        <p:nvPicPr>
          <p:cNvPr id="11" name="Picture 2" descr="\\.psf\Home\Desktop\Intel.png"/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915" y="4830589"/>
            <a:ext cx="364336" cy="240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/>
          <p:cNvCxnSpPr/>
          <p:nvPr/>
        </p:nvCxnSpPr>
        <p:spPr>
          <a:xfrm>
            <a:off x="8718551" y="4824510"/>
            <a:ext cx="2381" cy="237744"/>
          </a:xfrm>
          <a:prstGeom prst="line">
            <a:avLst/>
          </a:prstGeom>
          <a:ln w="9525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5613" y="310130"/>
            <a:ext cx="8229600" cy="8686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33pt Intel Clear Pro Headline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5613" y="1203325"/>
            <a:ext cx="8228012" cy="34258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18pt Intel Clear body text</a:t>
            </a:r>
          </a:p>
          <a:p>
            <a:pPr lvl="1"/>
            <a:r>
              <a:rPr lang="en-US" dirty="0"/>
              <a:t>16pt Intel Clear bullet one</a:t>
            </a:r>
          </a:p>
          <a:p>
            <a:pPr lvl="2"/>
            <a:r>
              <a:rPr lang="en-US" dirty="0"/>
              <a:t>16pt Intel Clear sub-bullet</a:t>
            </a:r>
          </a:p>
          <a:p>
            <a:pPr lvl="3"/>
            <a:r>
              <a:rPr lang="en-US" dirty="0" err="1"/>
              <a:t>14pt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14pt</a:t>
            </a:r>
            <a:r>
              <a:rPr lang="en-US" dirty="0"/>
              <a:t> Intel Clear 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72352" y="4824387"/>
            <a:ext cx="2133600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+mn-lt"/>
                <a:cs typeface="Intel Clear"/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DB9911-7C11-FF44-91CB-947A6460653E}"/>
              </a:ext>
            </a:extLst>
          </p:cNvPr>
          <p:cNvSpPr txBox="1"/>
          <p:nvPr userDrawn="1"/>
        </p:nvSpPr>
        <p:spPr>
          <a:xfrm>
            <a:off x="455613" y="4809976"/>
            <a:ext cx="2678618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One Platform for the Intersection of AI and HPC</a:t>
            </a:r>
          </a:p>
        </p:txBody>
      </p:sp>
    </p:spTree>
    <p:extLst>
      <p:ext uri="{BB962C8B-B14F-4D97-AF65-F5344CB8AC3E}">
        <p14:creationId xmlns:p14="http://schemas.microsoft.com/office/powerpoint/2010/main" val="2436938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716" r:id="rId3"/>
    <p:sldLayoutId id="2147483717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457200" rtl="0" eaLnBrk="1" latinLnBrk="0" hangingPunct="1">
        <a:lnSpc>
          <a:spcPts val="3000"/>
        </a:lnSpc>
        <a:spcBef>
          <a:spcPct val="0"/>
        </a:spcBef>
        <a:buNone/>
        <a:defRPr sz="3300" b="0" i="0" kern="1200" spc="0" baseline="0">
          <a:solidFill>
            <a:schemeClr val="tx2"/>
          </a:solidFill>
          <a:latin typeface="Intel Clear Pro" panose="020B0804020202060201" pitchFamily="34" charset="77"/>
          <a:ea typeface="Intel Clear Pro" panose="020B0804020202060201" pitchFamily="34" charset="77"/>
          <a:cs typeface="Intel Clear Pro" panose="020B0804020202060201" pitchFamily="34" charset="77"/>
        </a:defRPr>
      </a:lvl1pPr>
    </p:titleStyle>
    <p:bodyStyle>
      <a:lvl1pPr marL="0" indent="0" algn="l" defTabSz="457200" rtl="0" eaLnBrk="1" latinLnBrk="0" hangingPunct="1">
        <a:spcBef>
          <a:spcPts val="1200"/>
        </a:spcBef>
        <a:spcAft>
          <a:spcPts val="0"/>
        </a:spcAft>
        <a:buFont typeface="Wingdings" panose="05000000000000000000" pitchFamily="2" charset="2"/>
        <a:buNone/>
        <a:defRPr sz="1800" b="0" kern="1200">
          <a:solidFill>
            <a:srgbClr val="0071C5"/>
          </a:solidFill>
          <a:latin typeface="+mn-lt"/>
          <a:ea typeface="+mn-ea"/>
          <a:cs typeface="Intel Clear" panose="020B0604020203020204" pitchFamily="34" charset="0"/>
        </a:defRPr>
      </a:lvl1pPr>
      <a:lvl2pPr marL="225425" indent="-225425" algn="l" defTabSz="457200" rtl="0" eaLnBrk="1" latinLnBrk="0" hangingPunct="1">
        <a:spcBef>
          <a:spcPts val="1200"/>
        </a:spcBef>
        <a:buFont typeface="Wingdings" charset="2"/>
        <a:buChar char="§"/>
        <a:defRPr sz="1600" kern="1200" baseline="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2pPr>
      <a:lvl3pPr marL="571500" indent="-228600" algn="l" defTabSz="457200" rtl="0" eaLnBrk="1" latinLnBrk="0" hangingPunct="1">
        <a:spcBef>
          <a:spcPts val="800"/>
        </a:spcBef>
        <a:buFont typeface="Intel Clear" panose="020B060402020302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3pPr>
      <a:lvl4pPr marL="969963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4pPr>
      <a:lvl5pPr marL="1319213" indent="-228600" algn="l" defTabSz="457200" rtl="0" eaLnBrk="1" latinLnBrk="0" hangingPunct="1">
        <a:spcBef>
          <a:spcPct val="20000"/>
        </a:spcBef>
        <a:buFont typeface="Intel Clear" panose="020B0604020203020204" pitchFamily="34" charset="0"/>
        <a:buChar char="–"/>
        <a:defRPr sz="14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FAF33-66AC-4A4D-911B-84C4FCD6BB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8851" y="3836584"/>
            <a:ext cx="8212886" cy="1102519"/>
          </a:xfrm>
        </p:spPr>
        <p:txBody>
          <a:bodyPr/>
          <a:lstStyle/>
          <a:p>
            <a:r>
              <a:rPr lang="en-US" dirty="0"/>
              <a:t>Intel Maker’s ESP32 course – </a:t>
            </a:r>
            <a:br>
              <a:rPr lang="en-US" dirty="0"/>
            </a:br>
            <a:r>
              <a:rPr lang="en-US" dirty="0"/>
              <a:t>by intel’s makers community</a:t>
            </a:r>
            <a:br>
              <a:rPr lang="en-US" dirty="0"/>
            </a:br>
            <a:r>
              <a:rPr lang="en-US" dirty="0"/>
              <a:t>class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984B77-B6A3-E84D-97B0-DCAFA66C43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Gil Tal.</a:t>
            </a:r>
          </a:p>
          <a:p>
            <a:r>
              <a:rPr lang="en-US" dirty="0"/>
              <a:t>May 2021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8276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4562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flash/>
      </p:transition>
    </mc:Choice>
    <mc:Fallback xmlns="">
      <p:transition spd="slow" advClick="0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34EB1A-2475-5B44-BD4D-BDC457630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3C6D0A-8B55-9345-B774-BED156D93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86447"/>
          </a:xfrm>
        </p:spPr>
        <p:txBody>
          <a:bodyPr/>
          <a:lstStyle/>
          <a:p>
            <a:r>
              <a:rPr lang="en-US" dirty="0"/>
              <a:t>Class 2 agenda: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9EC5FC-28FF-4A46-99C9-D7F63D2F3E8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721588"/>
            <a:ext cx="8228012" cy="3982298"/>
          </a:xfrm>
        </p:spPr>
        <p:txBody>
          <a:bodyPr/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I/</a:t>
            </a:r>
            <a:r>
              <a:rPr lang="en-US" sz="1600" dirty="0" err="1"/>
              <a:t>Os</a:t>
            </a:r>
            <a:r>
              <a:rPr lang="en-US" sz="1600" dirty="0"/>
              <a:t> electrical types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I/</a:t>
            </a:r>
            <a:r>
              <a:rPr lang="en-US" sz="1600" dirty="0" err="1"/>
              <a:t>Os</a:t>
            </a:r>
            <a:r>
              <a:rPr lang="en-US" sz="1600" dirty="0"/>
              <a:t> types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I/O matrix and device mapping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Device \ Unit driver types and usage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Graphics fundamentals</a:t>
            </a:r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The LCD we have on our platform</a:t>
            </a:r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TV out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Flash memory vs EPROM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SPIFFS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SD card and FAT32 usage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Write a driver for the DC motors device (DRV8833)</a:t>
            </a:r>
          </a:p>
        </p:txBody>
      </p:sp>
    </p:spTree>
    <p:extLst>
      <p:ext uri="{BB962C8B-B14F-4D97-AF65-F5344CB8AC3E}">
        <p14:creationId xmlns:p14="http://schemas.microsoft.com/office/powerpoint/2010/main" val="1608352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183F0F-9E0D-407A-9BFD-69342CDEB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0631F4-F2DD-4C07-BA11-70D97A9E1F5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224901"/>
            <a:ext cx="8228012" cy="4404249"/>
          </a:xfrm>
        </p:spPr>
        <p:txBody>
          <a:bodyPr/>
          <a:lstStyle/>
          <a:p>
            <a:r>
              <a:rPr lang="en-US" b="1" dirty="0"/>
              <a:t>Open drain </a:t>
            </a:r>
            <a:r>
              <a:rPr lang="en-US" dirty="0"/>
              <a:t>buffer: Either drives ground or float the output</a:t>
            </a:r>
          </a:p>
          <a:p>
            <a:r>
              <a:rPr lang="en-US" dirty="0"/>
              <a:t>A pull up resistor is needed to drive logic 1</a:t>
            </a:r>
          </a:p>
          <a:p>
            <a:endParaRPr lang="en-US" dirty="0"/>
          </a:p>
          <a:p>
            <a:r>
              <a:rPr lang="en-US" b="1" dirty="0"/>
              <a:t>Bi-Directional I/O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Tri state buffer: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DFDA82-24B3-4320-B02F-4EA5EBF0B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626" y="531486"/>
            <a:ext cx="1611081" cy="13292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074" name="Picture 2" descr="Image result for difital output buffers">
            <a:extLst>
              <a:ext uri="{FF2B5EF4-FFF2-40B4-BE49-F238E27FC236}">
                <a16:creationId xmlns:a16="http://schemas.microsoft.com/office/drawing/2014/main" id="{14EDD849-A637-46B0-BCDE-24EC5E068C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4427" y="1196103"/>
            <a:ext cx="2629270" cy="15421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DCE3DC-350C-4278-A362-ACD62A0C93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4423" y="2993066"/>
            <a:ext cx="3080707" cy="15756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26" name="Picture 2" descr="Tristatelogic-vs-opendrain - wikipost">
            <a:extLst>
              <a:ext uri="{FF2B5EF4-FFF2-40B4-BE49-F238E27FC236}">
                <a16:creationId xmlns:a16="http://schemas.microsoft.com/office/drawing/2014/main" id="{4E12964F-9A67-447E-89AF-9702C95B68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6572" y="531486"/>
            <a:ext cx="1447566" cy="13300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69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290B57-2F5A-4C63-9A8F-175F14F63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DF40DC7-5A56-4339-BD42-9B271A325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3539"/>
            <a:ext cx="8229600" cy="389529"/>
          </a:xfrm>
        </p:spPr>
        <p:txBody>
          <a:bodyPr/>
          <a:lstStyle/>
          <a:p>
            <a:r>
              <a:rPr lang="en-US" dirty="0"/>
              <a:t>I/O and the different types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762134-D7F7-44D2-8AF2-DB27A77017A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523783"/>
            <a:ext cx="8228012" cy="4237607"/>
          </a:xfrm>
        </p:spPr>
        <p:txBody>
          <a:bodyPr/>
          <a:lstStyle/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Digital type:</a:t>
            </a:r>
          </a:p>
          <a:p>
            <a:pPr marL="511175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b="1" dirty="0"/>
              <a:t>Setup</a:t>
            </a:r>
            <a:r>
              <a:rPr lang="en-US" sz="1400" dirty="0"/>
              <a:t>: </a:t>
            </a:r>
            <a:r>
              <a:rPr lang="en-US" sz="1400" dirty="0" err="1"/>
              <a:t>pinMode</a:t>
            </a:r>
            <a:r>
              <a:rPr lang="en-US" sz="1400" dirty="0"/>
              <a:t>(34 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/* IO Number */</a:t>
            </a:r>
            <a:r>
              <a:rPr lang="en-US" sz="1400" dirty="0"/>
              <a:t>, INPUT);</a:t>
            </a:r>
          </a:p>
          <a:p>
            <a:pPr marL="511175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b="1" dirty="0"/>
              <a:t>Setup</a:t>
            </a:r>
            <a:r>
              <a:rPr lang="en-US" sz="1400" dirty="0"/>
              <a:t>: </a:t>
            </a:r>
            <a:r>
              <a:rPr lang="en-US" sz="1400" dirty="0" err="1"/>
              <a:t>pinMode</a:t>
            </a:r>
            <a:r>
              <a:rPr lang="en-US" sz="1400" dirty="0"/>
              <a:t>(34 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/* IO Number */</a:t>
            </a:r>
            <a:r>
              <a:rPr lang="en-US" sz="1400" dirty="0"/>
              <a:t>, OUTPUT);</a:t>
            </a:r>
          </a:p>
          <a:p>
            <a:pPr marL="511175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it-IT" sz="1400" dirty="0"/>
              <a:t>digitalWrite(34, HIGH); digitalWrite(34, LOW);</a:t>
            </a:r>
          </a:p>
          <a:p>
            <a:pPr marL="511175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 err="1"/>
              <a:t>digitalRead</a:t>
            </a:r>
            <a:r>
              <a:rPr lang="en-US" sz="1400" dirty="0"/>
              <a:t>(34);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Analog type:</a:t>
            </a:r>
          </a:p>
          <a:p>
            <a:pPr marL="511175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b="1" dirty="0"/>
              <a:t>Setup</a:t>
            </a:r>
            <a:r>
              <a:rPr lang="en-US" sz="1400" dirty="0"/>
              <a:t>: </a:t>
            </a:r>
            <a:r>
              <a:rPr lang="en-US" sz="1400" dirty="0" err="1"/>
              <a:t>pinMode</a:t>
            </a:r>
            <a:r>
              <a:rPr lang="en-US" sz="1400" dirty="0"/>
              <a:t>(36, ANALOG) 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// Input only</a:t>
            </a:r>
          </a:p>
          <a:p>
            <a:pPr marL="511175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 err="1"/>
              <a:t>analogRead</a:t>
            </a:r>
            <a:r>
              <a:rPr lang="en-US" sz="1400" dirty="0"/>
              <a:t>(36);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PWM (Pulse-Width Modulation):</a:t>
            </a:r>
          </a:p>
          <a:p>
            <a:pPr marL="511175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b="1" dirty="0"/>
              <a:t>Setup:</a:t>
            </a:r>
            <a:r>
              <a:rPr lang="en-US" sz="1400" dirty="0"/>
              <a:t> </a:t>
            </a:r>
            <a:r>
              <a:rPr lang="en-US" sz="1400" dirty="0" err="1"/>
              <a:t>pinMode</a:t>
            </a:r>
            <a:r>
              <a:rPr lang="en-US" sz="1400" dirty="0"/>
              <a:t>(25, OUTPUT); </a:t>
            </a:r>
          </a:p>
          <a:p>
            <a:pPr marL="511175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b="1" dirty="0"/>
              <a:t>Setup:</a:t>
            </a:r>
            <a:r>
              <a:rPr lang="en-US" sz="1400" dirty="0"/>
              <a:t> </a:t>
            </a:r>
            <a:r>
              <a:rPr lang="en-US" sz="1400" dirty="0" err="1"/>
              <a:t>ledcSetup</a:t>
            </a:r>
            <a:r>
              <a:rPr lang="en-US" sz="1400" dirty="0"/>
              <a:t>(1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/*Channel*/</a:t>
            </a:r>
            <a:r>
              <a:rPr lang="en-US" sz="1400" dirty="0"/>
              <a:t>, 2000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/*Freq*/</a:t>
            </a:r>
            <a:r>
              <a:rPr lang="en-US" sz="1400" dirty="0"/>
              <a:t>, 8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/*Number of bits for resolution of duty cycle*/</a:t>
            </a:r>
            <a:r>
              <a:rPr lang="en-US" sz="1400" dirty="0"/>
              <a:t>); </a:t>
            </a:r>
          </a:p>
          <a:p>
            <a:pPr marL="511175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b="1" dirty="0"/>
              <a:t>Setup:</a:t>
            </a:r>
            <a:r>
              <a:rPr lang="en-US" sz="1400" dirty="0"/>
              <a:t> </a:t>
            </a:r>
            <a:r>
              <a:rPr lang="en-US" sz="1400" dirty="0" err="1"/>
              <a:t>ledcAttachPin</a:t>
            </a:r>
            <a:r>
              <a:rPr lang="en-US" sz="1400" dirty="0"/>
              <a:t>(25, 1);</a:t>
            </a:r>
          </a:p>
          <a:p>
            <a:pPr marL="511175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 err="1"/>
              <a:t>ledcWriteTone</a:t>
            </a:r>
            <a:r>
              <a:rPr lang="en-US" sz="1400" dirty="0"/>
              <a:t>(1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/*Channel*/</a:t>
            </a:r>
            <a:r>
              <a:rPr lang="en-US" sz="1400" dirty="0"/>
              <a:t>, 2000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/*Freq*/</a:t>
            </a:r>
            <a:r>
              <a:rPr lang="en-US" sz="1400" dirty="0"/>
              <a:t>);</a:t>
            </a:r>
          </a:p>
          <a:p>
            <a:pPr marL="511175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 err="1"/>
              <a:t>ledcWrite</a:t>
            </a:r>
            <a:r>
              <a:rPr lang="en-US" sz="1400" dirty="0"/>
              <a:t>(1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/*Channel*/</a:t>
            </a:r>
            <a:r>
              <a:rPr lang="en-US" sz="1400" dirty="0"/>
              <a:t>, 196 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/*Duty Cycle*/</a:t>
            </a:r>
            <a:r>
              <a:rPr lang="en-US" sz="1400" dirty="0"/>
              <a:t>);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DAC: </a:t>
            </a:r>
          </a:p>
          <a:p>
            <a:pPr marL="511175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No setup needed</a:t>
            </a:r>
          </a:p>
          <a:p>
            <a:pPr marL="511175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 err="1"/>
              <a:t>dacWrite</a:t>
            </a:r>
            <a:r>
              <a:rPr lang="en-US" sz="1400" dirty="0"/>
              <a:t>(25,Value 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/* 0 – 255 */</a:t>
            </a:r>
            <a:r>
              <a:rPr lang="en-US" sz="1400" dirty="0"/>
              <a:t>); 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// Output 0-3.3V, 0.013V steps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AEADA1-3B7B-4745-8B7C-FC7B6138A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9269" y="308303"/>
            <a:ext cx="2123344" cy="15234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8F96C0-5A87-457B-A532-753A2C47C8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517" y="3311758"/>
            <a:ext cx="1542096" cy="131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922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290B57-2F5A-4C63-9A8F-175F14F63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DF40DC7-5A56-4339-BD42-9B271A325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3539"/>
            <a:ext cx="8229600" cy="389529"/>
          </a:xfrm>
        </p:spPr>
        <p:txBody>
          <a:bodyPr/>
          <a:lstStyle/>
          <a:p>
            <a:r>
              <a:rPr lang="en-US" dirty="0"/>
              <a:t>I/O and the different types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762134-D7F7-44D2-8AF2-DB27A77017A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523783"/>
            <a:ext cx="8228012" cy="4237607"/>
          </a:xfrm>
        </p:spPr>
        <p:txBody>
          <a:bodyPr/>
          <a:lstStyle/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Digital type:</a:t>
            </a:r>
          </a:p>
          <a:p>
            <a:pPr marL="511175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b="1" dirty="0"/>
              <a:t>Setup</a:t>
            </a:r>
            <a:r>
              <a:rPr lang="en-US" sz="1400" dirty="0"/>
              <a:t>: </a:t>
            </a:r>
            <a:r>
              <a:rPr lang="en-US" sz="1400" dirty="0" err="1"/>
              <a:t>pinMode</a:t>
            </a:r>
            <a:r>
              <a:rPr lang="en-US" sz="1400" dirty="0"/>
              <a:t>(34 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/* IO Number */</a:t>
            </a:r>
            <a:r>
              <a:rPr lang="en-US" sz="1400" dirty="0"/>
              <a:t>, INPUT);</a:t>
            </a:r>
          </a:p>
          <a:p>
            <a:pPr marL="511175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b="1" dirty="0"/>
              <a:t>Setup</a:t>
            </a:r>
            <a:r>
              <a:rPr lang="en-US" sz="1400" dirty="0"/>
              <a:t>: </a:t>
            </a:r>
            <a:r>
              <a:rPr lang="en-US" sz="1400" dirty="0" err="1"/>
              <a:t>pinMode</a:t>
            </a:r>
            <a:r>
              <a:rPr lang="en-US" sz="1400" dirty="0"/>
              <a:t>(34 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/* IO Number */</a:t>
            </a:r>
            <a:r>
              <a:rPr lang="en-US" sz="1400" dirty="0"/>
              <a:t>, OUTPUT);</a:t>
            </a:r>
          </a:p>
          <a:p>
            <a:pPr marL="511175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b="1" dirty="0"/>
              <a:t>Setup</a:t>
            </a:r>
            <a:r>
              <a:rPr lang="en-US" sz="1400" dirty="0"/>
              <a:t>: </a:t>
            </a:r>
            <a:r>
              <a:rPr lang="en-US" sz="1400" dirty="0" err="1"/>
              <a:t>pinMode</a:t>
            </a:r>
            <a:r>
              <a:rPr lang="en-US" sz="1400" dirty="0"/>
              <a:t>(34 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/* IO Number */</a:t>
            </a:r>
            <a:r>
              <a:rPr lang="en-US" sz="1400" dirty="0"/>
              <a:t>, INPUT_PULLUP);</a:t>
            </a:r>
          </a:p>
          <a:p>
            <a:pPr marL="511175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b="1" dirty="0"/>
              <a:t>Setup</a:t>
            </a:r>
            <a:r>
              <a:rPr lang="en-US" sz="1400" dirty="0"/>
              <a:t>: </a:t>
            </a:r>
            <a:r>
              <a:rPr lang="en-US" sz="1400" dirty="0" err="1"/>
              <a:t>pinMode</a:t>
            </a:r>
            <a:r>
              <a:rPr lang="en-US" sz="1400" dirty="0"/>
              <a:t>(34 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/* IO Number */</a:t>
            </a:r>
            <a:r>
              <a:rPr lang="en-US" sz="1400" dirty="0"/>
              <a:t>, INPUT_PULLDOWN);</a:t>
            </a:r>
          </a:p>
          <a:p>
            <a:pPr marL="511175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b="1" dirty="0"/>
              <a:t>Setup</a:t>
            </a:r>
            <a:r>
              <a:rPr lang="en-US" sz="1400" dirty="0"/>
              <a:t>: </a:t>
            </a:r>
            <a:r>
              <a:rPr lang="en-US" sz="1400" dirty="0" err="1"/>
              <a:t>pinMode</a:t>
            </a:r>
            <a:r>
              <a:rPr lang="en-US" sz="1400" dirty="0"/>
              <a:t>(34 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/* IO Number */</a:t>
            </a:r>
            <a:r>
              <a:rPr lang="en-US" sz="1400" dirty="0"/>
              <a:t>, OUTPUT_OPEN_DRAIN);</a:t>
            </a:r>
          </a:p>
          <a:p>
            <a:pPr marL="511175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it-IT" sz="1400" dirty="0"/>
              <a:t>digitalWrite(34, HIGH); </a:t>
            </a:r>
          </a:p>
          <a:p>
            <a:pPr marL="511175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it-IT" sz="1400" dirty="0"/>
              <a:t>digitalWrite(34, LOW);</a:t>
            </a:r>
          </a:p>
          <a:p>
            <a:pPr marL="511175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 err="1"/>
              <a:t>digitalRead</a:t>
            </a:r>
            <a:r>
              <a:rPr lang="en-US" sz="1400" dirty="0"/>
              <a:t>(34);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Analog type:</a:t>
            </a:r>
          </a:p>
          <a:p>
            <a:pPr marL="511175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b="1" dirty="0"/>
              <a:t>Setup</a:t>
            </a:r>
            <a:r>
              <a:rPr lang="en-US" sz="1400" dirty="0"/>
              <a:t>: </a:t>
            </a:r>
            <a:r>
              <a:rPr lang="en-US" sz="1400" dirty="0" err="1"/>
              <a:t>pinMode</a:t>
            </a:r>
            <a:r>
              <a:rPr lang="en-US" sz="1400" dirty="0"/>
              <a:t>(36, ANALOG) 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// Input only</a:t>
            </a:r>
          </a:p>
          <a:p>
            <a:pPr marL="511175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 err="1"/>
              <a:t>analogRead</a:t>
            </a:r>
            <a:r>
              <a:rPr lang="en-US" sz="1400" dirty="0"/>
              <a:t>(36);</a:t>
            </a:r>
          </a:p>
        </p:txBody>
      </p:sp>
    </p:spTree>
    <p:extLst>
      <p:ext uri="{BB962C8B-B14F-4D97-AF65-F5344CB8AC3E}">
        <p14:creationId xmlns:p14="http://schemas.microsoft.com/office/powerpoint/2010/main" val="574882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CB8CC1-C335-4785-A39A-38E6B0098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710AC3-AD37-436C-852F-3DB1FB121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25" y="154940"/>
            <a:ext cx="8229600" cy="427752"/>
          </a:xfrm>
        </p:spPr>
        <p:txBody>
          <a:bodyPr/>
          <a:lstStyle/>
          <a:p>
            <a:r>
              <a:rPr lang="en-US" dirty="0"/>
              <a:t>Usage for i/</a:t>
            </a:r>
            <a:r>
              <a:rPr lang="en-US" dirty="0" err="1"/>
              <a:t>os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59D615-3EC1-473B-9294-AA152AC2ABB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582693"/>
            <a:ext cx="8228012" cy="404645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Digital</a:t>
            </a:r>
            <a:r>
              <a:rPr lang="en-US" sz="1400" dirty="0"/>
              <a:t>: Control led, relays, read state of digital inputs coming from different devices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Analog</a:t>
            </a:r>
            <a:r>
              <a:rPr lang="en-US" sz="1400" dirty="0"/>
              <a:t>: Read voltage level of a device, potentiometer, Joy Stick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PWM</a:t>
            </a:r>
            <a:r>
              <a:rPr lang="en-US" sz="1400" dirty="0"/>
              <a:t>: Control a speaker, DC motors, servo electric engines and more…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DAC</a:t>
            </a:r>
            <a:r>
              <a:rPr lang="en-US" sz="1400" dirty="0"/>
              <a:t>: Drive a speaker with volume control, generate special wave forms, use your imagination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66A2C4-726E-46CA-AE2A-6B233458D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025" y="2184400"/>
            <a:ext cx="1697647" cy="18131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5A3614-1276-4E8D-8FB7-BC988C871463}"/>
              </a:ext>
            </a:extLst>
          </p:cNvPr>
          <p:cNvSpPr txBox="1"/>
          <p:nvPr/>
        </p:nvSpPr>
        <p:spPr>
          <a:xfrm>
            <a:off x="2151672" y="3460750"/>
            <a:ext cx="4826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dirty="0">
                <a:solidFill>
                  <a:srgbClr val="003C71"/>
                </a:solidFill>
              </a:rPr>
              <a:t>PWM</a:t>
            </a:r>
          </a:p>
        </p:txBody>
      </p:sp>
      <p:pic>
        <p:nvPicPr>
          <p:cNvPr id="2050" name="Picture 2" descr="Image result for speaker DAC arduino">
            <a:extLst>
              <a:ext uri="{FF2B5EF4-FFF2-40B4-BE49-F238E27FC236}">
                <a16:creationId xmlns:a16="http://schemas.microsoft.com/office/drawing/2014/main" id="{8D32AACC-AAF8-4B96-8463-B15B57C2BA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6100" y="2151782"/>
            <a:ext cx="4940300" cy="1845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4081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E51ADA-275E-40A5-A294-AF81C257F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D76C2BC-8766-4AAC-B741-8B9DE97A0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14" y="135593"/>
            <a:ext cx="8229600" cy="371705"/>
          </a:xfrm>
        </p:spPr>
        <p:txBody>
          <a:bodyPr/>
          <a:lstStyle/>
          <a:p>
            <a:r>
              <a:rPr lang="en-US" sz="2800" dirty="0"/>
              <a:t>I/O matrix and device mapping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4F4E56-5F94-4E92-8A78-17D2E365AADD}"/>
              </a:ext>
            </a:extLst>
          </p:cNvPr>
          <p:cNvSpPr txBox="1"/>
          <p:nvPr/>
        </p:nvSpPr>
        <p:spPr>
          <a:xfrm>
            <a:off x="455612" y="824459"/>
            <a:ext cx="4482147" cy="15388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3C71"/>
                </a:solidFill>
              </a:rPr>
              <a:t>Some units have fixed IO mapping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3C71"/>
                </a:solidFill>
              </a:rPr>
              <a:t>Most micro controllers have IO matrix for greater flexibility 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3C71"/>
                </a:solidFill>
              </a:rPr>
              <a:t>Some options might have frequency limitations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E4B329-4275-4AEA-8821-E1995410E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2328" y="45269"/>
            <a:ext cx="3499875" cy="46718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EB9462-21FD-46F1-A1E1-2AD197EBF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236" y="2275037"/>
            <a:ext cx="4005372" cy="2463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096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83DEB5-5DDF-4BB6-A01D-497716F0A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64C637-3C71-4150-AF4F-15383C4EF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68707"/>
          </a:xfrm>
        </p:spPr>
        <p:txBody>
          <a:bodyPr/>
          <a:lstStyle/>
          <a:p>
            <a:r>
              <a:rPr lang="en-US" dirty="0"/>
              <a:t>Before connecting a device…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49C996-8C49-423D-A63A-8E8F5E893D9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677555"/>
            <a:ext cx="8228012" cy="395159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need to figure out: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Physical connection (either by watching the schematic, detailed board diagram or any other document with the relevant data)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What interface\protocol is used by the device, need to make sure we have a free one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What is the frequency the device can operate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Voltage level – both I/O and supply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Total power consumption 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Does it have additional signals needed beside what the protocol defines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Does it need a pull up or pull down on part of the signals?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404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4C06C3-7086-4457-A839-57165781D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C7F766E-CEAA-4B1E-91BD-7294EABE0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56715"/>
          </a:xfrm>
        </p:spPr>
        <p:txBody>
          <a:bodyPr/>
          <a:lstStyle/>
          <a:p>
            <a:r>
              <a:rPr lang="en-US" dirty="0"/>
              <a:t>Mapping the LCD of our platform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3AE080-D33C-4830-AAC5-0AAD828973C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692547"/>
            <a:ext cx="8228012" cy="393660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 general mistakes in connectivity can damage a board!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Information for physical connectivity must be available for us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Interface used by the LCD is SPI: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MOSI – Master out slave in (drive data from ESP32 to the LCD)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Clock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CS – Chip Select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Reset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Out of spec signal - CMD\Data , distinguish between data or command transaction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Information for the specific I/</a:t>
            </a:r>
            <a:r>
              <a:rPr lang="en-US" sz="1600" dirty="0" err="1"/>
              <a:t>Os</a:t>
            </a:r>
            <a:r>
              <a:rPr lang="en-US" sz="1600" dirty="0"/>
              <a:t> used is in the schematic of the ESP32 TTGO module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Graphics.h</a:t>
            </a:r>
            <a:r>
              <a:rPr lang="en-US" sz="1600" dirty="0"/>
              <a:t> is a general LCD\TV out driver that supports the platform’s ST7789 device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Small porting is needed</a:t>
            </a:r>
          </a:p>
        </p:txBody>
      </p:sp>
    </p:spTree>
    <p:extLst>
      <p:ext uri="{BB962C8B-B14F-4D97-AF65-F5344CB8AC3E}">
        <p14:creationId xmlns:p14="http://schemas.microsoft.com/office/powerpoint/2010/main" val="1303617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E13421-76C8-411E-9029-CE558B09D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E07157-201E-4BD5-B729-C4E6DA26C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677" y="873978"/>
            <a:ext cx="3467944" cy="28662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B2A814-E195-4DB6-97FA-65E9ACCDFF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2213" y="724122"/>
            <a:ext cx="4161361" cy="31583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27EF45-85A0-4248-BD45-8708EACA43EB}"/>
              </a:ext>
            </a:extLst>
          </p:cNvPr>
          <p:cNvSpPr txBox="1"/>
          <p:nvPr/>
        </p:nvSpPr>
        <p:spPr>
          <a:xfrm>
            <a:off x="1737358" y="1949310"/>
            <a:ext cx="626589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dirty="0">
                <a:solidFill>
                  <a:srgbClr val="003C71"/>
                </a:solidFill>
              </a:rPr>
              <a:t>SPI-MOSI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53CC4B-AF00-40DE-B3A5-8B5D324A031B}"/>
              </a:ext>
            </a:extLst>
          </p:cNvPr>
          <p:cNvSpPr txBox="1"/>
          <p:nvPr/>
        </p:nvSpPr>
        <p:spPr>
          <a:xfrm>
            <a:off x="1737359" y="2053652"/>
            <a:ext cx="626589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dirty="0">
                <a:solidFill>
                  <a:srgbClr val="003C71"/>
                </a:solidFill>
              </a:rPr>
              <a:t>SPI Clock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B6EB85-560F-4269-B47E-21EFFF23BA4C}"/>
              </a:ext>
            </a:extLst>
          </p:cNvPr>
          <p:cNvSpPr txBox="1"/>
          <p:nvPr/>
        </p:nvSpPr>
        <p:spPr>
          <a:xfrm>
            <a:off x="1737359" y="2158583"/>
            <a:ext cx="626589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dirty="0">
                <a:solidFill>
                  <a:srgbClr val="003C71"/>
                </a:solidFill>
              </a:rPr>
              <a:t>Data\CMD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B08753-5636-4EE0-90CF-4B464EF756D7}"/>
              </a:ext>
            </a:extLst>
          </p:cNvPr>
          <p:cNvSpPr txBox="1"/>
          <p:nvPr/>
        </p:nvSpPr>
        <p:spPr>
          <a:xfrm>
            <a:off x="1737357" y="2367856"/>
            <a:ext cx="626589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dirty="0">
                <a:solidFill>
                  <a:srgbClr val="003C71"/>
                </a:solidFill>
              </a:rPr>
              <a:t>Chip Select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610444-EE0B-4412-8C31-6291FFB7549E}"/>
              </a:ext>
            </a:extLst>
          </p:cNvPr>
          <p:cNvSpPr txBox="1"/>
          <p:nvPr/>
        </p:nvSpPr>
        <p:spPr>
          <a:xfrm>
            <a:off x="506668" y="200868"/>
            <a:ext cx="3705568" cy="3077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0" rIns="0" bIns="0" rtlCol="0">
            <a:spAutoFit/>
          </a:bodyPr>
          <a:lstStyle/>
          <a:p>
            <a:r>
              <a:rPr lang="en-US" sz="2000" dirty="0">
                <a:solidFill>
                  <a:srgbClr val="003C71"/>
                </a:solidFill>
              </a:rPr>
              <a:t>ESP32 TTGO module schematic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F831D3-4572-4A8D-ADA8-69F29D1007C3}"/>
              </a:ext>
            </a:extLst>
          </p:cNvPr>
          <p:cNvSpPr txBox="1"/>
          <p:nvPr/>
        </p:nvSpPr>
        <p:spPr>
          <a:xfrm>
            <a:off x="5330503" y="491782"/>
            <a:ext cx="983354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dirty="0">
                <a:solidFill>
                  <a:srgbClr val="003C71"/>
                </a:solidFill>
              </a:rPr>
              <a:t>ESP32</a:t>
            </a:r>
          </a:p>
        </p:txBody>
      </p:sp>
    </p:spTree>
    <p:extLst>
      <p:ext uri="{BB962C8B-B14F-4D97-AF65-F5344CB8AC3E}">
        <p14:creationId xmlns:p14="http://schemas.microsoft.com/office/powerpoint/2010/main" val="1585434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CD3B54-5116-4D3A-9821-40A555A05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1F314E-F06D-4E47-9B2B-A30E6651A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53717"/>
          </a:xfrm>
        </p:spPr>
        <p:txBody>
          <a:bodyPr/>
          <a:lstStyle/>
          <a:p>
            <a:r>
              <a:rPr lang="en-US" dirty="0"/>
              <a:t>Device driver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FBC49B-D9C6-4F23-8F8D-461194E2C6C2}"/>
              </a:ext>
            </a:extLst>
          </p:cNvPr>
          <p:cNvSpPr/>
          <p:nvPr/>
        </p:nvSpPr>
        <p:spPr>
          <a:xfrm>
            <a:off x="1834797" y="887419"/>
            <a:ext cx="1472034" cy="1546986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Micro Controller</a:t>
            </a:r>
          </a:p>
          <a:p>
            <a:pPr algn="ctr"/>
            <a:r>
              <a:rPr lang="en-US" dirty="0"/>
              <a:t>(ESP32)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8F8C39-B7E2-4899-8772-DBAFB475AAB1}"/>
              </a:ext>
            </a:extLst>
          </p:cNvPr>
          <p:cNvSpPr/>
          <p:nvPr/>
        </p:nvSpPr>
        <p:spPr>
          <a:xfrm>
            <a:off x="5468412" y="887418"/>
            <a:ext cx="1472034" cy="1546986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Device</a:t>
            </a:r>
          </a:p>
          <a:p>
            <a:pPr algn="ctr"/>
            <a:r>
              <a:rPr lang="en-US" dirty="0"/>
              <a:t>(LCD for Example)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76FA37-30A9-42FB-8B73-62C383ADA2B4}"/>
              </a:ext>
            </a:extLst>
          </p:cNvPr>
          <p:cNvSpPr/>
          <p:nvPr/>
        </p:nvSpPr>
        <p:spPr>
          <a:xfrm>
            <a:off x="3431249" y="887419"/>
            <a:ext cx="1912745" cy="1546986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Enable us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Utilize the device’s capabilities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Initialize the device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3F971A-D1FA-4F31-A253-8AA5628EC4B8}"/>
              </a:ext>
            </a:extLst>
          </p:cNvPr>
          <p:cNvSpPr txBox="1"/>
          <p:nvPr/>
        </p:nvSpPr>
        <p:spPr>
          <a:xfrm>
            <a:off x="3431248" y="572833"/>
            <a:ext cx="1912745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dirty="0"/>
              <a:t>Device Driver</a:t>
            </a:r>
          </a:p>
          <a:p>
            <a:pPr algn="ctr"/>
            <a:endParaRPr lang="en-US" dirty="0" err="1">
              <a:solidFill>
                <a:srgbClr val="003C7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0C1D73-7917-4CD7-9C4F-F366B0103A84}"/>
              </a:ext>
            </a:extLst>
          </p:cNvPr>
          <p:cNvSpPr txBox="1"/>
          <p:nvPr/>
        </p:nvSpPr>
        <p:spPr>
          <a:xfrm>
            <a:off x="3431248" y="3113241"/>
            <a:ext cx="1912745" cy="8309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dirty="0"/>
              <a:t>Device Driver</a:t>
            </a:r>
          </a:p>
          <a:p>
            <a:pPr algn="ctr"/>
            <a:r>
              <a:rPr lang="en-US" dirty="0"/>
              <a:t>SW structure</a:t>
            </a:r>
          </a:p>
          <a:p>
            <a:pPr algn="ctr"/>
            <a:endParaRPr lang="en-US" dirty="0" err="1">
              <a:solidFill>
                <a:srgbClr val="003C7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B4AFAC-D758-42B1-9C41-03280211D87D}"/>
              </a:ext>
            </a:extLst>
          </p:cNvPr>
          <p:cNvSpPr/>
          <p:nvPr/>
        </p:nvSpPr>
        <p:spPr>
          <a:xfrm>
            <a:off x="3431248" y="3729553"/>
            <a:ext cx="1866277" cy="311795"/>
          </a:xfrm>
          <a:prstGeom prst="rect">
            <a:avLst/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D07EA7-B1A9-44CA-9084-73D3E8209A1B}"/>
              </a:ext>
            </a:extLst>
          </p:cNvPr>
          <p:cNvSpPr/>
          <p:nvPr/>
        </p:nvSpPr>
        <p:spPr>
          <a:xfrm>
            <a:off x="3431248" y="4041348"/>
            <a:ext cx="1866277" cy="311795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API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BB57E3-D2D3-4B86-BB08-50EDA5C45D70}"/>
              </a:ext>
            </a:extLst>
          </p:cNvPr>
          <p:cNvSpPr txBox="1"/>
          <p:nvPr/>
        </p:nvSpPr>
        <p:spPr>
          <a:xfrm>
            <a:off x="5375474" y="3800811"/>
            <a:ext cx="1912745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 dirty="0">
                <a:solidFill>
                  <a:srgbClr val="003C71"/>
                </a:solidFill>
              </a:rPr>
              <a:t>H</a:t>
            </a:r>
            <a:r>
              <a:rPr lang="en-US" sz="1100" dirty="0">
                <a:solidFill>
                  <a:srgbClr val="003C71"/>
                </a:solidFill>
              </a:rPr>
              <a:t>ardware </a:t>
            </a:r>
            <a:r>
              <a:rPr lang="en-US" sz="1100" b="1" dirty="0">
                <a:solidFill>
                  <a:srgbClr val="003C71"/>
                </a:solidFill>
              </a:rPr>
              <a:t>A</a:t>
            </a:r>
            <a:r>
              <a:rPr lang="en-US" sz="1100" dirty="0">
                <a:solidFill>
                  <a:srgbClr val="003C71"/>
                </a:solidFill>
              </a:rPr>
              <a:t>bstraction </a:t>
            </a:r>
            <a:r>
              <a:rPr lang="en-US" sz="1100" b="1" dirty="0">
                <a:solidFill>
                  <a:srgbClr val="003C71"/>
                </a:solidFill>
              </a:rPr>
              <a:t>L</a:t>
            </a:r>
            <a:r>
              <a:rPr lang="en-US" sz="1100" dirty="0">
                <a:solidFill>
                  <a:srgbClr val="003C71"/>
                </a:solidFill>
              </a:rPr>
              <a:t>ayer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763E13-E17E-4DA0-BCB8-EB9DFEEE3377}"/>
              </a:ext>
            </a:extLst>
          </p:cNvPr>
          <p:cNvSpPr txBox="1"/>
          <p:nvPr/>
        </p:nvSpPr>
        <p:spPr>
          <a:xfrm>
            <a:off x="5375474" y="4011369"/>
            <a:ext cx="2344461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 dirty="0">
                <a:solidFill>
                  <a:srgbClr val="003C71"/>
                </a:solidFill>
              </a:rPr>
              <a:t>A</a:t>
            </a:r>
            <a:r>
              <a:rPr lang="en-US" sz="1100" dirty="0">
                <a:solidFill>
                  <a:srgbClr val="003C71"/>
                </a:solidFill>
              </a:rPr>
              <a:t>pplication</a:t>
            </a:r>
            <a:r>
              <a:rPr lang="en-US" dirty="0"/>
              <a:t> </a:t>
            </a:r>
            <a:r>
              <a:rPr lang="en-US" sz="1100" b="1" dirty="0">
                <a:solidFill>
                  <a:srgbClr val="003C71"/>
                </a:solidFill>
              </a:rPr>
              <a:t>P</a:t>
            </a:r>
            <a:r>
              <a:rPr lang="en-US" sz="1100" dirty="0">
                <a:solidFill>
                  <a:srgbClr val="003C71"/>
                </a:solidFill>
              </a:rPr>
              <a:t>rogramming </a:t>
            </a:r>
            <a:r>
              <a:rPr lang="en-US" sz="1100" b="1" dirty="0">
                <a:solidFill>
                  <a:srgbClr val="003C71"/>
                </a:solidFill>
              </a:rPr>
              <a:t>I</a:t>
            </a:r>
            <a:r>
              <a:rPr lang="en-US" sz="1100" dirty="0">
                <a:solidFill>
                  <a:srgbClr val="003C71"/>
                </a:solidFill>
              </a:rPr>
              <a:t>nterface</a:t>
            </a:r>
          </a:p>
        </p:txBody>
      </p:sp>
    </p:spTree>
    <p:extLst>
      <p:ext uri="{BB962C8B-B14F-4D97-AF65-F5344CB8AC3E}">
        <p14:creationId xmlns:p14="http://schemas.microsoft.com/office/powerpoint/2010/main" val="2759731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D8892E-8CF3-4C15-9812-0758BB6B6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7B3ADD0-F7C9-406B-A804-C87353E9B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68707"/>
          </a:xfrm>
        </p:spPr>
        <p:txBody>
          <a:bodyPr/>
          <a:lstStyle/>
          <a:p>
            <a:r>
              <a:rPr lang="en-US" dirty="0"/>
              <a:t>Getting started with a driver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37AF43-7DD7-4211-9560-6D51ACE813A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677555"/>
            <a:ext cx="8228012" cy="3951595"/>
          </a:xfrm>
        </p:spPr>
        <p:txBody>
          <a:bodyPr/>
          <a:lstStyle/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When using a driver for the first time:</a:t>
            </a:r>
          </a:p>
          <a:p>
            <a:pPr marL="511175" lvl="1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We need to place the driver in the Arduino library folder</a:t>
            </a:r>
          </a:p>
          <a:p>
            <a:pPr marL="511175" lvl="1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We might need to do a small porting or adaptations </a:t>
            </a: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Types of adaptions we might face:</a:t>
            </a:r>
          </a:p>
          <a:p>
            <a:pPr marL="511175" lvl="1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C000"/>
                </a:solidFill>
              </a:rPr>
              <a:t>The simplest one is just providing basic parameters such as:</a:t>
            </a:r>
          </a:p>
          <a:p>
            <a:pPr marL="857250" lvl="2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I\O pins mapping</a:t>
            </a:r>
          </a:p>
          <a:p>
            <a:pPr marL="857250" lvl="2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I2C address </a:t>
            </a:r>
          </a:p>
          <a:p>
            <a:pPr marL="857250" lvl="2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Unit index (in case we have multiple instances of the same unit)</a:t>
            </a:r>
          </a:p>
          <a:p>
            <a:pPr marL="511175" lvl="1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C000"/>
                </a:solidFill>
              </a:rPr>
              <a:t>Next will need a background task or an interrupt service routine</a:t>
            </a:r>
          </a:p>
          <a:p>
            <a:pPr marL="857250" lvl="2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In most cases an example is provided</a:t>
            </a:r>
          </a:p>
          <a:p>
            <a:pPr marL="511175" lvl="1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C000"/>
                </a:solidFill>
              </a:rPr>
              <a:t>A More complicated one will need an accessor - meaning:</a:t>
            </a:r>
          </a:p>
          <a:p>
            <a:pPr marL="857250" lvl="2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We will need to inherent a C++ class and link\implement HAL functions</a:t>
            </a:r>
          </a:p>
          <a:p>
            <a:pPr marL="857250" lvl="2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I will go through an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531ED4-7072-440C-94E1-9A8554448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3974" y="-1"/>
            <a:ext cx="3010025" cy="192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608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A5F5D5-7138-447F-B636-76C6F43F9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DB54CFD-C2A2-450A-BFDC-7D881AF6D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56715"/>
          </a:xfrm>
        </p:spPr>
        <p:txBody>
          <a:bodyPr/>
          <a:lstStyle/>
          <a:p>
            <a:r>
              <a:rPr lang="en-US" dirty="0"/>
              <a:t>HAL \ API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BF0369-9C01-459E-BC21-2FD8A3F2D07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701541"/>
            <a:ext cx="8228012" cy="392761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HAL (direct HW access):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Used by the driver internally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SPI interface native functions for example</a:t>
            </a:r>
          </a:p>
          <a:p>
            <a:pPr marL="857250" lvl="2" indent="-285750">
              <a:buFont typeface="Arial" panose="020B0604020202020204" pitchFamily="34" charset="0"/>
              <a:buChar char="•"/>
            </a:pPr>
            <a:r>
              <a:rPr lang="en-US" dirty="0" err="1"/>
              <a:t>SPI.writeBYTE</a:t>
            </a:r>
            <a:r>
              <a:rPr lang="en-US" dirty="0"/>
              <a:t>((char)VAL);</a:t>
            </a:r>
          </a:p>
          <a:p>
            <a:pPr marL="857250" lvl="2" indent="-285750">
              <a:buFont typeface="Arial" panose="020B0604020202020204" pitchFamily="34" charset="0"/>
              <a:buChar char="•"/>
            </a:pPr>
            <a:r>
              <a:rPr lang="en-US" dirty="0"/>
              <a:t>ESP_WRITE_REG(0x3FF4400c, </a:t>
            </a:r>
            <a:r>
              <a:rPr lang="en-US" dirty="0" err="1"/>
              <a:t>PAR_IOs_MASK</a:t>
            </a:r>
            <a:r>
              <a:rPr lang="en-US" dirty="0"/>
              <a:t>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API (To be used by the programmer </a:t>
            </a:r>
            <a:r>
              <a:rPr lang="en-US" dirty="0">
                <a:sym typeface="Wingdings" panose="05000000000000000000" pitchFamily="2" charset="2"/>
              </a:rPr>
              <a:t>)</a:t>
            </a:r>
            <a:r>
              <a:rPr lang="en-US" dirty="0"/>
              <a:t>: 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Graphics driver functions for examples: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 err="1"/>
              <a:t>fillScr</a:t>
            </a:r>
            <a:r>
              <a:rPr lang="en-US" dirty="0"/>
              <a:t>(unsigned char r, unsigned char g, unsigned char b);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 err="1"/>
              <a:t>drawRoundRect</a:t>
            </a:r>
            <a:r>
              <a:rPr lang="en-US" dirty="0"/>
              <a:t>(short x1, short y1, short x2, short y2, bool fill = false);</a:t>
            </a:r>
          </a:p>
        </p:txBody>
      </p:sp>
    </p:spTree>
    <p:extLst>
      <p:ext uri="{BB962C8B-B14F-4D97-AF65-F5344CB8AC3E}">
        <p14:creationId xmlns:p14="http://schemas.microsoft.com/office/powerpoint/2010/main" val="1513427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C5BFB5-B05E-41E1-BF3B-1C71B4E74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7D8D23C-7B5A-45FF-BFC6-3CBF5151A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50719"/>
          </a:xfrm>
        </p:spPr>
        <p:txBody>
          <a:bodyPr/>
          <a:lstStyle/>
          <a:p>
            <a:r>
              <a:rPr lang="en-US" dirty="0"/>
              <a:t>Our LCD driver as an example - Setup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F34056-4995-438F-9758-38A2A4486DE8}"/>
              </a:ext>
            </a:extLst>
          </p:cNvPr>
          <p:cNvSpPr txBox="1"/>
          <p:nvPr/>
        </p:nvSpPr>
        <p:spPr>
          <a:xfrm>
            <a:off x="503670" y="686550"/>
            <a:ext cx="8301553" cy="384720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dirty="0">
                <a:solidFill>
                  <a:srgbClr val="003C71"/>
                </a:solidFill>
              </a:rPr>
              <a:t>Driver uses VSPI (ESP32 has two SPI controllers available for the user – VSPI and HSPI)</a:t>
            </a:r>
          </a:p>
          <a:p>
            <a:endParaRPr lang="en-US" sz="1000" dirty="0">
              <a:solidFill>
                <a:srgbClr val="003C71"/>
              </a:solidFill>
            </a:endParaRPr>
          </a:p>
          <a:p>
            <a:r>
              <a:rPr lang="en-US" sz="1000" dirty="0">
                <a:solidFill>
                  <a:srgbClr val="FFC000"/>
                </a:solidFill>
              </a:rPr>
              <a:t>// HAL - </a:t>
            </a:r>
            <a:r>
              <a:rPr lang="en-US" sz="1000" dirty="0" err="1">
                <a:solidFill>
                  <a:srgbClr val="FFC000"/>
                </a:solidFill>
              </a:rPr>
              <a:t>graphics.h</a:t>
            </a:r>
            <a:endParaRPr lang="en-US" sz="1000" dirty="0">
              <a:solidFill>
                <a:srgbClr val="FFC000"/>
              </a:solidFill>
            </a:endParaRPr>
          </a:p>
          <a:p>
            <a:r>
              <a:rPr lang="en-US" sz="1000" dirty="0">
                <a:solidFill>
                  <a:schemeClr val="bg2">
                    <a:lumMod val="75000"/>
                  </a:schemeClr>
                </a:solidFill>
              </a:rPr>
              <a:t>#define</a:t>
            </a:r>
            <a:r>
              <a:rPr lang="en-US" sz="1000" dirty="0">
                <a:solidFill>
                  <a:srgbClr val="003C71"/>
                </a:solidFill>
              </a:rPr>
              <a:t> ST77XXSPI_DATA_COMMAND_PIN	16</a:t>
            </a:r>
          </a:p>
          <a:p>
            <a:r>
              <a:rPr lang="en-US" sz="1000" dirty="0">
                <a:solidFill>
                  <a:schemeClr val="bg2">
                    <a:lumMod val="75000"/>
                  </a:schemeClr>
                </a:solidFill>
              </a:rPr>
              <a:t>#define </a:t>
            </a:r>
            <a:r>
              <a:rPr lang="en-US" sz="1000" dirty="0">
                <a:solidFill>
                  <a:srgbClr val="003C71"/>
                </a:solidFill>
              </a:rPr>
              <a:t>ST77XXSPI_CS_PIN			5</a:t>
            </a:r>
          </a:p>
          <a:p>
            <a:r>
              <a:rPr lang="en-US" sz="1000" dirty="0">
                <a:solidFill>
                  <a:schemeClr val="bg2">
                    <a:lumMod val="75000"/>
                  </a:schemeClr>
                </a:solidFill>
              </a:rPr>
              <a:t>#define </a:t>
            </a:r>
            <a:r>
              <a:rPr lang="en-US" sz="1000" dirty="0">
                <a:solidFill>
                  <a:srgbClr val="003C71"/>
                </a:solidFill>
              </a:rPr>
              <a:t>ST77XXSPI_RESET_PIN		23</a:t>
            </a:r>
          </a:p>
          <a:p>
            <a:r>
              <a:rPr lang="en-US" sz="1000" dirty="0">
                <a:solidFill>
                  <a:schemeClr val="bg2">
                    <a:lumMod val="75000"/>
                  </a:schemeClr>
                </a:solidFill>
              </a:rPr>
              <a:t>#define </a:t>
            </a:r>
            <a:r>
              <a:rPr lang="en-US" sz="1000" dirty="0">
                <a:solidFill>
                  <a:srgbClr val="003C71"/>
                </a:solidFill>
              </a:rPr>
              <a:t>ST77XXSPI_MOSI_PIN			19</a:t>
            </a:r>
          </a:p>
          <a:p>
            <a:r>
              <a:rPr lang="en-US" sz="1000" dirty="0">
                <a:solidFill>
                  <a:schemeClr val="bg2">
                    <a:lumMod val="75000"/>
                  </a:schemeClr>
                </a:solidFill>
              </a:rPr>
              <a:t>#define </a:t>
            </a:r>
            <a:r>
              <a:rPr lang="en-US" sz="1000" dirty="0">
                <a:solidFill>
                  <a:srgbClr val="003C71"/>
                </a:solidFill>
              </a:rPr>
              <a:t>ST77XXSPI_CLK_PIN			18</a:t>
            </a:r>
          </a:p>
          <a:p>
            <a:endParaRPr lang="en-US" sz="1000" dirty="0">
              <a:solidFill>
                <a:srgbClr val="003C71"/>
              </a:solidFill>
            </a:endParaRPr>
          </a:p>
          <a:p>
            <a:r>
              <a:rPr lang="en-US" sz="1000" dirty="0">
                <a:solidFill>
                  <a:srgbClr val="FFC000"/>
                </a:solidFill>
              </a:rPr>
              <a:t>// Main</a:t>
            </a:r>
          </a:p>
          <a:p>
            <a:r>
              <a:rPr lang="en-US" sz="1000" dirty="0">
                <a:solidFill>
                  <a:schemeClr val="bg2">
                    <a:lumMod val="75000"/>
                  </a:schemeClr>
                </a:solidFill>
              </a:rPr>
              <a:t>#include </a:t>
            </a:r>
            <a:r>
              <a:rPr lang="en-US" sz="1000" dirty="0">
                <a:solidFill>
                  <a:srgbClr val="003C71"/>
                </a:solidFill>
              </a:rPr>
              <a:t>"</a:t>
            </a:r>
            <a:r>
              <a:rPr lang="en-US" sz="1000" dirty="0" err="1">
                <a:solidFill>
                  <a:srgbClr val="003C71"/>
                </a:solidFill>
              </a:rPr>
              <a:t>graphics.h</a:t>
            </a:r>
            <a:r>
              <a:rPr lang="en-US" sz="1000" dirty="0">
                <a:solidFill>
                  <a:srgbClr val="003C71"/>
                </a:solidFill>
              </a:rPr>
              <a:t>“</a:t>
            </a:r>
          </a:p>
          <a:p>
            <a:endParaRPr lang="en-US" sz="1000" dirty="0">
              <a:solidFill>
                <a:srgbClr val="003C71"/>
              </a:solidFill>
            </a:endParaRPr>
          </a:p>
          <a:p>
            <a:r>
              <a:rPr lang="en-US" sz="1000" dirty="0">
                <a:solidFill>
                  <a:srgbClr val="003C71"/>
                </a:solidFill>
              </a:rPr>
              <a:t>ST77XX </a:t>
            </a:r>
            <a:r>
              <a:rPr lang="en-US" sz="1000" b="1" dirty="0">
                <a:solidFill>
                  <a:srgbClr val="003C71"/>
                </a:solidFill>
              </a:rPr>
              <a:t>lcd</a:t>
            </a:r>
            <a:r>
              <a:rPr lang="en-US" sz="1000" dirty="0">
                <a:solidFill>
                  <a:srgbClr val="003C71"/>
                </a:solidFill>
              </a:rPr>
              <a:t>(_240x135);</a:t>
            </a:r>
          </a:p>
          <a:p>
            <a:endParaRPr lang="en-US" sz="1000" dirty="0">
              <a:solidFill>
                <a:srgbClr val="003C71"/>
              </a:solidFill>
            </a:endParaRPr>
          </a:p>
          <a:p>
            <a:r>
              <a:rPr lang="en-US" sz="1000" dirty="0">
                <a:solidFill>
                  <a:srgbClr val="003C71"/>
                </a:solidFill>
              </a:rPr>
              <a:t>setup()</a:t>
            </a:r>
          </a:p>
          <a:p>
            <a:r>
              <a:rPr lang="en-US" sz="1000" dirty="0">
                <a:solidFill>
                  <a:srgbClr val="003C71"/>
                </a:solidFill>
              </a:rPr>
              <a:t>{</a:t>
            </a:r>
          </a:p>
          <a:p>
            <a:r>
              <a:rPr lang="en-US" sz="1000" dirty="0">
                <a:solidFill>
                  <a:srgbClr val="003C71"/>
                </a:solidFill>
              </a:rPr>
              <a:t>	</a:t>
            </a:r>
            <a:r>
              <a:rPr lang="en-US" sz="1000" b="1" dirty="0" err="1">
                <a:solidFill>
                  <a:srgbClr val="003C71"/>
                </a:solidFill>
              </a:rPr>
              <a:t>lcd</a:t>
            </a:r>
            <a:r>
              <a:rPr lang="en-US" sz="1000" dirty="0" err="1">
                <a:solidFill>
                  <a:srgbClr val="003C71"/>
                </a:solidFill>
              </a:rPr>
              <a:t>.</a:t>
            </a:r>
            <a:r>
              <a:rPr lang="en-US" sz="1000" b="1" dirty="0" err="1">
                <a:solidFill>
                  <a:srgbClr val="003C71"/>
                </a:solidFill>
              </a:rPr>
              <a:t>init</a:t>
            </a:r>
            <a:r>
              <a:rPr lang="en-US" sz="1000" dirty="0">
                <a:solidFill>
                  <a:srgbClr val="003C71"/>
                </a:solidFill>
              </a:rPr>
              <a:t>(40000000);</a:t>
            </a:r>
          </a:p>
          <a:p>
            <a:r>
              <a:rPr lang="en-US" sz="1000" dirty="0">
                <a:solidFill>
                  <a:srgbClr val="003C71"/>
                </a:solidFill>
              </a:rPr>
              <a:t>}</a:t>
            </a:r>
          </a:p>
          <a:p>
            <a:endParaRPr lang="en-US" sz="1000" dirty="0">
              <a:solidFill>
                <a:srgbClr val="003C71"/>
              </a:solidFill>
            </a:endParaRPr>
          </a:p>
          <a:p>
            <a:r>
              <a:rPr lang="en-US" sz="1000" dirty="0">
                <a:solidFill>
                  <a:srgbClr val="003C71"/>
                </a:solidFill>
              </a:rPr>
              <a:t>loop()</a:t>
            </a:r>
          </a:p>
          <a:p>
            <a:r>
              <a:rPr lang="en-US" sz="1000" dirty="0">
                <a:solidFill>
                  <a:srgbClr val="003C71"/>
                </a:solidFill>
              </a:rPr>
              <a:t>{</a:t>
            </a:r>
          </a:p>
          <a:p>
            <a:r>
              <a:rPr lang="en-US" sz="1000" dirty="0">
                <a:solidFill>
                  <a:srgbClr val="003C71"/>
                </a:solidFill>
              </a:rPr>
              <a:t>	</a:t>
            </a:r>
            <a:r>
              <a:rPr lang="en-US" sz="1000" b="1" dirty="0" err="1">
                <a:solidFill>
                  <a:srgbClr val="003C71"/>
                </a:solidFill>
              </a:rPr>
              <a:t>lcd</a:t>
            </a:r>
            <a:r>
              <a:rPr lang="en-US" sz="1000" dirty="0" err="1">
                <a:solidFill>
                  <a:srgbClr val="003C71"/>
                </a:solidFill>
              </a:rPr>
              <a:t>.</a:t>
            </a:r>
            <a:r>
              <a:rPr lang="en-US" sz="1000" b="1" dirty="0" err="1">
                <a:solidFill>
                  <a:srgbClr val="003C71"/>
                </a:solidFill>
              </a:rPr>
              <a:t>fillScr</a:t>
            </a:r>
            <a:r>
              <a:rPr lang="en-US" sz="1000" dirty="0">
                <a:solidFill>
                  <a:srgbClr val="003C71"/>
                </a:solidFill>
              </a:rPr>
              <a:t>(0, 0, 0);</a:t>
            </a:r>
          </a:p>
          <a:p>
            <a:r>
              <a:rPr lang="en-US" sz="1000" dirty="0">
                <a:solidFill>
                  <a:srgbClr val="003C71"/>
                </a:solidFill>
              </a:rPr>
              <a:t>	</a:t>
            </a:r>
            <a:r>
              <a:rPr lang="en-US" sz="1000" b="1" dirty="0" err="1">
                <a:solidFill>
                  <a:srgbClr val="003C71"/>
                </a:solidFill>
              </a:rPr>
              <a:t>lcd</a:t>
            </a:r>
            <a:r>
              <a:rPr lang="en-US" sz="1000" dirty="0" err="1">
                <a:solidFill>
                  <a:srgbClr val="003C71"/>
                </a:solidFill>
              </a:rPr>
              <a:t>.</a:t>
            </a:r>
            <a:r>
              <a:rPr lang="en-US" sz="1000" b="1" dirty="0" err="1">
                <a:solidFill>
                  <a:srgbClr val="003C71"/>
                </a:solidFill>
              </a:rPr>
              <a:t>setColor</a:t>
            </a:r>
            <a:r>
              <a:rPr lang="en-US" sz="1000" dirty="0">
                <a:solidFill>
                  <a:srgbClr val="003C71"/>
                </a:solidFill>
              </a:rPr>
              <a:t>(0, 255, 0);</a:t>
            </a:r>
          </a:p>
          <a:p>
            <a:r>
              <a:rPr lang="en-US" sz="1000" dirty="0">
                <a:solidFill>
                  <a:srgbClr val="003C71"/>
                </a:solidFill>
              </a:rPr>
              <a:t>	</a:t>
            </a:r>
            <a:r>
              <a:rPr lang="en-US" sz="1000" b="1" dirty="0" err="1">
                <a:solidFill>
                  <a:srgbClr val="003C71"/>
                </a:solidFill>
              </a:rPr>
              <a:t>lcd</a:t>
            </a:r>
            <a:r>
              <a:rPr lang="en-US" sz="1000" dirty="0" err="1">
                <a:solidFill>
                  <a:srgbClr val="003C71"/>
                </a:solidFill>
              </a:rPr>
              <a:t>.</a:t>
            </a:r>
            <a:r>
              <a:rPr lang="en-US" sz="1000" b="1" dirty="0" err="1">
                <a:solidFill>
                  <a:srgbClr val="003C71"/>
                </a:solidFill>
              </a:rPr>
              <a:t>drawRect</a:t>
            </a:r>
            <a:r>
              <a:rPr lang="en-US" sz="1000" dirty="0">
                <a:solidFill>
                  <a:srgbClr val="003C71"/>
                </a:solidFill>
              </a:rPr>
              <a:t>(0, 0, </a:t>
            </a:r>
            <a:r>
              <a:rPr lang="en-US" sz="1000" dirty="0" err="1">
                <a:solidFill>
                  <a:srgbClr val="003C71"/>
                </a:solidFill>
              </a:rPr>
              <a:t>lcd.getXSize</a:t>
            </a:r>
            <a:r>
              <a:rPr lang="en-US" sz="1000" dirty="0">
                <a:solidFill>
                  <a:srgbClr val="003C71"/>
                </a:solidFill>
              </a:rPr>
              <a:t>() - 1, </a:t>
            </a:r>
            <a:r>
              <a:rPr lang="en-US" sz="1000" dirty="0" err="1">
                <a:solidFill>
                  <a:srgbClr val="003C71"/>
                </a:solidFill>
              </a:rPr>
              <a:t>lcd.getYSize</a:t>
            </a:r>
            <a:r>
              <a:rPr lang="en-US" sz="1000" dirty="0">
                <a:solidFill>
                  <a:srgbClr val="003C71"/>
                </a:solidFill>
              </a:rPr>
              <a:t>() - 1);</a:t>
            </a:r>
          </a:p>
          <a:p>
            <a:r>
              <a:rPr lang="en-US" sz="1000" dirty="0">
                <a:solidFill>
                  <a:srgbClr val="003C7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15764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152199-9B41-445F-BB18-79350FB9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61EAC4-4198-4BDD-8C7C-1DB2FD540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83610"/>
          </a:xfrm>
        </p:spPr>
        <p:txBody>
          <a:bodyPr/>
          <a:lstStyle/>
          <a:p>
            <a:r>
              <a:rPr lang="en-US" dirty="0"/>
              <a:t>Basic graphics controller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AF2AFD-8DCD-4CA7-881E-1BB1825AA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8854" y="796031"/>
            <a:ext cx="3269023" cy="1927669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6693CCE-E5AB-4867-BA40-89ACE88E5A92}"/>
              </a:ext>
            </a:extLst>
          </p:cNvPr>
          <p:cNvSpPr/>
          <p:nvPr/>
        </p:nvSpPr>
        <p:spPr>
          <a:xfrm>
            <a:off x="2610035" y="1177771"/>
            <a:ext cx="2503502" cy="1393979"/>
          </a:xfrm>
          <a:prstGeom prst="round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Graphics controller</a:t>
            </a:r>
          </a:p>
          <a:p>
            <a:pPr algn="ctr"/>
            <a:r>
              <a:rPr lang="en-US" dirty="0"/>
              <a:t>(In our case – ST7789)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25045C2-C62D-4A27-995F-8673DB7817F2}"/>
              </a:ext>
            </a:extLst>
          </p:cNvPr>
          <p:cNvSpPr/>
          <p:nvPr/>
        </p:nvSpPr>
        <p:spPr>
          <a:xfrm>
            <a:off x="798990" y="958880"/>
            <a:ext cx="1328691" cy="1831760"/>
          </a:xfrm>
          <a:prstGeom prst="round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Graphics</a:t>
            </a:r>
          </a:p>
          <a:p>
            <a:pPr algn="ctr"/>
            <a:r>
              <a:rPr lang="en-US" dirty="0"/>
              <a:t>Memory</a:t>
            </a:r>
          </a:p>
        </p:txBody>
      </p:sp>
      <p:sp>
        <p:nvSpPr>
          <p:cNvPr id="10" name="Arrow: Left-Right 9">
            <a:extLst>
              <a:ext uri="{FF2B5EF4-FFF2-40B4-BE49-F238E27FC236}">
                <a16:creationId xmlns:a16="http://schemas.microsoft.com/office/drawing/2014/main" id="{F5D8C495-339B-4524-90D8-ECFF2D511880}"/>
              </a:ext>
            </a:extLst>
          </p:cNvPr>
          <p:cNvSpPr/>
          <p:nvPr/>
        </p:nvSpPr>
        <p:spPr>
          <a:xfrm>
            <a:off x="5113537" y="1759865"/>
            <a:ext cx="491231" cy="190721"/>
          </a:xfrm>
          <a:prstGeom prst="leftRightArrow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Left-Right 10">
            <a:extLst>
              <a:ext uri="{FF2B5EF4-FFF2-40B4-BE49-F238E27FC236}">
                <a16:creationId xmlns:a16="http://schemas.microsoft.com/office/drawing/2014/main" id="{62CB2FC9-D5A2-4C96-8AB5-09BA34F03399}"/>
              </a:ext>
            </a:extLst>
          </p:cNvPr>
          <p:cNvSpPr/>
          <p:nvPr/>
        </p:nvSpPr>
        <p:spPr>
          <a:xfrm>
            <a:off x="2127682" y="1759864"/>
            <a:ext cx="482354" cy="190721"/>
          </a:xfrm>
          <a:prstGeom prst="leftRightArrow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Left-Right 11">
            <a:extLst>
              <a:ext uri="{FF2B5EF4-FFF2-40B4-BE49-F238E27FC236}">
                <a16:creationId xmlns:a16="http://schemas.microsoft.com/office/drawing/2014/main" id="{306C4C7C-289D-4ED1-B3E7-9AD4C3F4429A}"/>
              </a:ext>
            </a:extLst>
          </p:cNvPr>
          <p:cNvSpPr/>
          <p:nvPr/>
        </p:nvSpPr>
        <p:spPr>
          <a:xfrm rot="5400000">
            <a:off x="3638255" y="2729311"/>
            <a:ext cx="505842" cy="190721"/>
          </a:xfrm>
          <a:prstGeom prst="leftRightArrow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A5B12D-6688-4203-8C66-72E04134EBA3}"/>
              </a:ext>
            </a:extLst>
          </p:cNvPr>
          <p:cNvSpPr txBox="1"/>
          <p:nvPr/>
        </p:nvSpPr>
        <p:spPr>
          <a:xfrm>
            <a:off x="3240350" y="3086471"/>
            <a:ext cx="2041864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 dirty="0">
                <a:solidFill>
                  <a:srgbClr val="003C71"/>
                </a:solidFill>
              </a:rPr>
              <a:t>Interface to host</a:t>
            </a:r>
          </a:p>
          <a:p>
            <a:r>
              <a:rPr lang="en-US" sz="1100" dirty="0">
                <a:solidFill>
                  <a:srgbClr val="003C71"/>
                </a:solidFill>
              </a:rPr>
              <a:t>PCIe, SPI, I2C,UART, Parallel 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37BADE-A05C-41FA-A5EC-4FE9D1E5FA8B}"/>
              </a:ext>
            </a:extLst>
          </p:cNvPr>
          <p:cNvSpPr txBox="1"/>
          <p:nvPr/>
        </p:nvSpPr>
        <p:spPr>
          <a:xfrm>
            <a:off x="455613" y="3611224"/>
            <a:ext cx="3737606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 dirty="0">
                <a:solidFill>
                  <a:srgbClr val="003C71"/>
                </a:solidFill>
              </a:rPr>
              <a:t>Memory structure:</a:t>
            </a:r>
          </a:p>
          <a:p>
            <a:r>
              <a:rPr lang="en-US" sz="1100" dirty="0">
                <a:solidFill>
                  <a:srgbClr val="003C71"/>
                </a:solidFill>
              </a:rPr>
              <a:t>Array of: RGB,RGB,RGB …. Or (ARGB,ARGB,ARGB…)</a:t>
            </a:r>
          </a:p>
          <a:p>
            <a:r>
              <a:rPr lang="en-US" sz="1100" dirty="0">
                <a:solidFill>
                  <a:srgbClr val="003C71"/>
                </a:solidFill>
              </a:rPr>
              <a:t>32, 24, 18, 16, or 3 bit per pixel (8888, 888, 666, 565, 111)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2FDC26-0ED8-45FA-8C58-E1350261057D}"/>
              </a:ext>
            </a:extLst>
          </p:cNvPr>
          <p:cNvSpPr txBox="1"/>
          <p:nvPr/>
        </p:nvSpPr>
        <p:spPr>
          <a:xfrm>
            <a:off x="964707" y="1115627"/>
            <a:ext cx="423169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RGB</a:t>
            </a:r>
          </a:p>
        </p:txBody>
      </p: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1B9CA033-2CDE-40F4-8125-CB343EF1F37E}"/>
              </a:ext>
            </a:extLst>
          </p:cNvPr>
          <p:cNvCxnSpPr/>
          <p:nvPr/>
        </p:nvCxnSpPr>
        <p:spPr>
          <a:xfrm flipV="1">
            <a:off x="1174812" y="958880"/>
            <a:ext cx="4542407" cy="156747"/>
          </a:xfrm>
          <a:prstGeom prst="curvedConnector3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081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70407B-AE93-40B8-9070-2996242DC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68D2214-C5FA-4FD4-921F-950019663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39222"/>
          </a:xfrm>
        </p:spPr>
        <p:txBody>
          <a:bodyPr/>
          <a:lstStyle/>
          <a:p>
            <a:r>
              <a:rPr lang="en-US" dirty="0"/>
              <a:t>Animation basics…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6AA680-27D1-4EC8-B58D-0A75BF032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509" y="894887"/>
            <a:ext cx="4050136" cy="1617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578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AF1D72-78C4-47A2-BFA0-72B923C77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75B360A-12EF-41F9-B466-8AECE029B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25" y="113613"/>
            <a:ext cx="8229600" cy="339222"/>
          </a:xfrm>
        </p:spPr>
        <p:txBody>
          <a:bodyPr/>
          <a:lstStyle/>
          <a:p>
            <a:r>
              <a:rPr lang="en-US" dirty="0"/>
              <a:t>Few main technics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F27AFE-3562-42B2-91EA-FE917E9C1E1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546100"/>
            <a:ext cx="8228012" cy="4083051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 dirty="0"/>
              <a:t>Option 1:</a:t>
            </a:r>
            <a:r>
              <a:rPr lang="en-US" sz="1600" dirty="0"/>
              <a:t> Use one frame, just erase and draw what ever is needed, do it fast enough and it will look OK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 dirty="0"/>
              <a:t>Option 2: </a:t>
            </a:r>
            <a:r>
              <a:rPr lang="en-US" sz="1600" dirty="0"/>
              <a:t>Use a scratch frame buffer, for each scene:</a:t>
            </a:r>
          </a:p>
          <a:p>
            <a:pPr marL="396875" lvl="1" indent="-171450">
              <a:buFont typeface="Arial" panose="020B0604020202020204" pitchFamily="34" charset="0"/>
              <a:buChar char="•"/>
            </a:pPr>
            <a:r>
              <a:rPr lang="en-US" sz="1600" dirty="0"/>
              <a:t>Erase the frame buffer</a:t>
            </a:r>
          </a:p>
          <a:p>
            <a:pPr marL="396875" lvl="1" indent="-171450">
              <a:buFont typeface="Arial" panose="020B0604020202020204" pitchFamily="34" charset="0"/>
              <a:buChar char="•"/>
            </a:pPr>
            <a:r>
              <a:rPr lang="en-US" sz="1600" dirty="0"/>
              <a:t>Draw the new scene </a:t>
            </a:r>
          </a:p>
          <a:p>
            <a:pPr marL="396875" lvl="1" indent="-171450">
              <a:buFont typeface="Arial" panose="020B0604020202020204" pitchFamily="34" charset="0"/>
              <a:buChar char="•"/>
            </a:pPr>
            <a:r>
              <a:rPr lang="en-US" sz="1600" dirty="0"/>
              <a:t>Send the new scene to the video controller</a:t>
            </a:r>
          </a:p>
          <a:p>
            <a:pPr marL="396875" lvl="1" indent="-171450">
              <a:buFont typeface="Arial" panose="020B0604020202020204" pitchFamily="34" charset="0"/>
              <a:buChar char="•"/>
            </a:pPr>
            <a:r>
              <a:rPr lang="en-US" sz="1600" dirty="0"/>
              <a:t>We need a frame rate greater than 30 to have smooth animation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 dirty="0"/>
              <a:t>Option 3:</a:t>
            </a:r>
            <a:r>
              <a:rPr lang="en-US" sz="1600" dirty="0"/>
              <a:t> Combination of options 1 and 2 </a:t>
            </a:r>
          </a:p>
          <a:p>
            <a:pPr marL="396875" lvl="1" indent="-171450">
              <a:buFont typeface="Arial" panose="020B0604020202020204" pitchFamily="34" charset="0"/>
              <a:buChar char="•"/>
            </a:pPr>
            <a:r>
              <a:rPr lang="en-US" sz="1600" dirty="0"/>
              <a:t>Use frame buffer</a:t>
            </a:r>
          </a:p>
          <a:p>
            <a:pPr marL="396875" lvl="1" indent="-171450">
              <a:buFont typeface="Arial" panose="020B0604020202020204" pitchFamily="34" charset="0"/>
              <a:buChar char="•"/>
            </a:pPr>
            <a:r>
              <a:rPr lang="en-US" sz="1600" dirty="0"/>
              <a:t>just erase and draw what ever is needed</a:t>
            </a:r>
          </a:p>
          <a:p>
            <a:pPr marL="396875" lvl="1" indent="-171450">
              <a:buFont typeface="Arial" panose="020B0604020202020204" pitchFamily="34" charset="0"/>
              <a:buChar char="•"/>
            </a:pPr>
            <a:r>
              <a:rPr lang="en-US" sz="1600" dirty="0"/>
              <a:t>Send the frame to the video controller</a:t>
            </a:r>
          </a:p>
          <a:p>
            <a:pPr marL="396875" lvl="1" indent="-1714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898253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0CA79A-49F8-4B8E-A4A8-30EC95F60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6DADBF-D4F1-4E79-83A8-045D29E38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56977"/>
          </a:xfrm>
        </p:spPr>
        <p:txBody>
          <a:bodyPr/>
          <a:lstStyle/>
          <a:p>
            <a:r>
              <a:rPr lang="en-US" dirty="0"/>
              <a:t>Our LCD – ST7789 based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BA2FB9-9656-46B9-B579-C50DF802E1E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716133"/>
            <a:ext cx="8228012" cy="391301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SPI running at 40MHz one bit, with additional Command\Data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Resolution: 240x135 or 135x240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RGB565 (64K colors): 72 FPS for full screen refresh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Two bytes per pixel</a:t>
            </a:r>
          </a:p>
        </p:txBody>
      </p:sp>
    </p:spTree>
    <p:extLst>
      <p:ext uri="{BB962C8B-B14F-4D97-AF65-F5344CB8AC3E}">
        <p14:creationId xmlns:p14="http://schemas.microsoft.com/office/powerpoint/2010/main" val="3014501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0CA79A-49F8-4B8E-A4A8-30EC95F60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6DADBF-D4F1-4E79-83A8-045D29E38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56977"/>
          </a:xfrm>
        </p:spPr>
        <p:txBody>
          <a:bodyPr/>
          <a:lstStyle/>
          <a:p>
            <a:r>
              <a:rPr lang="en-US" dirty="0"/>
              <a:t>ESP32 and the LCD\TV out block diagram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C2C62D-9CBF-46F4-8238-9F03427708D6}"/>
              </a:ext>
            </a:extLst>
          </p:cNvPr>
          <p:cNvSpPr/>
          <p:nvPr/>
        </p:nvSpPr>
        <p:spPr>
          <a:xfrm>
            <a:off x="1639409" y="1003177"/>
            <a:ext cx="1571347" cy="116001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ESP32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B7C372-F4EB-4B1B-970B-28730BD31E66}"/>
              </a:ext>
            </a:extLst>
          </p:cNvPr>
          <p:cNvSpPr/>
          <p:nvPr/>
        </p:nvSpPr>
        <p:spPr>
          <a:xfrm>
            <a:off x="3749336" y="1003177"/>
            <a:ext cx="1287262" cy="116001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ST7789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1C0D06-BFCA-44C8-BB74-06AEBB5211EE}"/>
              </a:ext>
            </a:extLst>
          </p:cNvPr>
          <p:cNvSpPr/>
          <p:nvPr/>
        </p:nvSpPr>
        <p:spPr>
          <a:xfrm>
            <a:off x="3848470" y="1716350"/>
            <a:ext cx="1088994" cy="37286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0000"/>
                </a:solidFill>
              </a:rPr>
              <a:t>Frame buffer</a:t>
            </a:r>
          </a:p>
          <a:p>
            <a:pPr algn="ctr"/>
            <a:r>
              <a:rPr lang="en-US" sz="1200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11" name="Arrow: Left-Right 10">
            <a:extLst>
              <a:ext uri="{FF2B5EF4-FFF2-40B4-BE49-F238E27FC236}">
                <a16:creationId xmlns:a16="http://schemas.microsoft.com/office/drawing/2014/main" id="{B232BB48-94D2-4FE2-A857-DC7644C72490}"/>
              </a:ext>
            </a:extLst>
          </p:cNvPr>
          <p:cNvSpPr/>
          <p:nvPr/>
        </p:nvSpPr>
        <p:spPr>
          <a:xfrm>
            <a:off x="3210757" y="1476652"/>
            <a:ext cx="538579" cy="275208"/>
          </a:xfrm>
          <a:prstGeom prst="leftRightArrow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SPI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308C88-DCBE-4D8A-A52C-DB6737690104}"/>
              </a:ext>
            </a:extLst>
          </p:cNvPr>
          <p:cNvSpPr/>
          <p:nvPr/>
        </p:nvSpPr>
        <p:spPr>
          <a:xfrm>
            <a:off x="5575177" y="1003176"/>
            <a:ext cx="1584220" cy="116001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LCD</a:t>
            </a:r>
          </a:p>
        </p:txBody>
      </p:sp>
      <p:sp>
        <p:nvSpPr>
          <p:cNvPr id="13" name="Arrow: Left-Right 12">
            <a:extLst>
              <a:ext uri="{FF2B5EF4-FFF2-40B4-BE49-F238E27FC236}">
                <a16:creationId xmlns:a16="http://schemas.microsoft.com/office/drawing/2014/main" id="{4158F46C-4935-40F3-88A6-5807953A81AD}"/>
              </a:ext>
            </a:extLst>
          </p:cNvPr>
          <p:cNvSpPr/>
          <p:nvPr/>
        </p:nvSpPr>
        <p:spPr>
          <a:xfrm>
            <a:off x="5036598" y="1476652"/>
            <a:ext cx="538579" cy="275208"/>
          </a:xfrm>
          <a:prstGeom prst="leftRightArrow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5D8121-470E-4891-B21F-E921E74363A5}"/>
              </a:ext>
            </a:extLst>
          </p:cNvPr>
          <p:cNvSpPr txBox="1"/>
          <p:nvPr/>
        </p:nvSpPr>
        <p:spPr>
          <a:xfrm>
            <a:off x="1343487" y="730928"/>
            <a:ext cx="6048653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 dirty="0">
                <a:solidFill>
                  <a:srgbClr val="003C71"/>
                </a:solidFill>
              </a:rPr>
              <a:t>RGB565 mode </a:t>
            </a:r>
            <a:r>
              <a:rPr lang="en-US" sz="1100" dirty="0">
                <a:solidFill>
                  <a:srgbClr val="003C71"/>
                </a:solidFill>
              </a:rPr>
              <a:t>– Any write of the graphics drivers access the frame buffer memory directly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D8C6B0-9EE4-4C3B-A830-D2AAC171A490}"/>
              </a:ext>
            </a:extLst>
          </p:cNvPr>
          <p:cNvSpPr/>
          <p:nvPr/>
        </p:nvSpPr>
        <p:spPr>
          <a:xfrm>
            <a:off x="2453081" y="2948032"/>
            <a:ext cx="1571347" cy="116001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ESP32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8" name="Arrow: Left-Right 17">
            <a:extLst>
              <a:ext uri="{FF2B5EF4-FFF2-40B4-BE49-F238E27FC236}">
                <a16:creationId xmlns:a16="http://schemas.microsoft.com/office/drawing/2014/main" id="{AF26E561-93AA-4A51-8103-C604E39AAB20}"/>
              </a:ext>
            </a:extLst>
          </p:cNvPr>
          <p:cNvSpPr/>
          <p:nvPr/>
        </p:nvSpPr>
        <p:spPr>
          <a:xfrm>
            <a:off x="4024429" y="3421507"/>
            <a:ext cx="758638" cy="275208"/>
          </a:xfrm>
          <a:prstGeom prst="leftRightArrow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DAC25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9CB9A7A-F6E7-4529-A9B0-79E554038D35}"/>
              </a:ext>
            </a:extLst>
          </p:cNvPr>
          <p:cNvSpPr/>
          <p:nvPr/>
        </p:nvSpPr>
        <p:spPr>
          <a:xfrm>
            <a:off x="4783067" y="2948031"/>
            <a:ext cx="1584220" cy="116001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TV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391AC2E-C512-44CB-A7E6-89A974129D4A}"/>
              </a:ext>
            </a:extLst>
          </p:cNvPr>
          <p:cNvSpPr txBox="1"/>
          <p:nvPr/>
        </p:nvSpPr>
        <p:spPr>
          <a:xfrm>
            <a:off x="1343486" y="2442004"/>
            <a:ext cx="6048653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 dirty="0">
                <a:solidFill>
                  <a:srgbClr val="003C71"/>
                </a:solidFill>
              </a:rPr>
              <a:t>TV Out mode</a:t>
            </a:r>
            <a:r>
              <a:rPr lang="en-US" sz="1100" dirty="0">
                <a:solidFill>
                  <a:srgbClr val="003C71"/>
                </a:solidFill>
              </a:rPr>
              <a:t> – Any write of the graphics drivers access the </a:t>
            </a:r>
            <a:r>
              <a:rPr lang="en-US" sz="1100" b="1" u="sng" dirty="0">
                <a:solidFill>
                  <a:srgbClr val="003C71"/>
                </a:solidFill>
              </a:rPr>
              <a:t>local</a:t>
            </a:r>
            <a:r>
              <a:rPr lang="en-US" sz="1100" dirty="0">
                <a:solidFill>
                  <a:srgbClr val="003C71"/>
                </a:solidFill>
              </a:rPr>
              <a:t> frame buffer</a:t>
            </a:r>
          </a:p>
          <a:p>
            <a:r>
              <a:rPr lang="en-US" sz="1100" dirty="0">
                <a:solidFill>
                  <a:srgbClr val="003C71"/>
                </a:solidFill>
              </a:rPr>
              <a:t>At any time one frame buffer is active and the second is being refreshed directly to the TV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9B0737-4FDA-4220-B1F7-EE86B34B8923}"/>
              </a:ext>
            </a:extLst>
          </p:cNvPr>
          <p:cNvSpPr/>
          <p:nvPr/>
        </p:nvSpPr>
        <p:spPr>
          <a:xfrm>
            <a:off x="2538899" y="3661205"/>
            <a:ext cx="1450020" cy="37286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FF0000"/>
                </a:solidFill>
              </a:rPr>
              <a:t>Local Frame buffer</a:t>
            </a:r>
          </a:p>
          <a:p>
            <a:pPr algn="ctr"/>
            <a:r>
              <a:rPr lang="en-US" sz="1000" dirty="0">
                <a:solidFill>
                  <a:srgbClr val="FF0000"/>
                </a:solidFill>
              </a:rPr>
              <a:t>Memory 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3E6716-FCB5-4931-9FC8-B12D634B87C7}"/>
              </a:ext>
            </a:extLst>
          </p:cNvPr>
          <p:cNvSpPr/>
          <p:nvPr/>
        </p:nvSpPr>
        <p:spPr>
          <a:xfrm>
            <a:off x="2538899" y="3235076"/>
            <a:ext cx="1450020" cy="37286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FF0000"/>
                </a:solidFill>
              </a:rPr>
              <a:t>Local Frame buffer</a:t>
            </a:r>
          </a:p>
          <a:p>
            <a:pPr algn="ctr"/>
            <a:r>
              <a:rPr lang="en-US" sz="1000" dirty="0">
                <a:solidFill>
                  <a:srgbClr val="FF0000"/>
                </a:solidFill>
              </a:rPr>
              <a:t>Memory 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199CC42-28B7-4378-ADF2-F0613044C4EF}"/>
              </a:ext>
            </a:extLst>
          </p:cNvPr>
          <p:cNvSpPr/>
          <p:nvPr/>
        </p:nvSpPr>
        <p:spPr>
          <a:xfrm>
            <a:off x="1663908" y="1735688"/>
            <a:ext cx="1496019" cy="37286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Optional Local Frame buffer</a:t>
            </a:r>
          </a:p>
          <a:p>
            <a:pPr algn="ctr"/>
            <a:r>
              <a:rPr lang="en-US" sz="800" dirty="0">
                <a:solidFill>
                  <a:srgbClr val="FF0000"/>
                </a:solidFill>
              </a:rPr>
              <a:t>Memory</a:t>
            </a:r>
          </a:p>
        </p:txBody>
      </p:sp>
    </p:spTree>
    <p:extLst>
      <p:ext uri="{BB962C8B-B14F-4D97-AF65-F5344CB8AC3E}">
        <p14:creationId xmlns:p14="http://schemas.microsoft.com/office/powerpoint/2010/main" val="2450524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C5BFB5-B05E-41E1-BF3B-1C71B4E74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7D8D23C-7B5A-45FF-BFC6-3CBF5151A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46" y="45269"/>
            <a:ext cx="8229600" cy="350719"/>
          </a:xfrm>
        </p:spPr>
        <p:txBody>
          <a:bodyPr/>
          <a:lstStyle/>
          <a:p>
            <a:r>
              <a:rPr lang="en-US" dirty="0"/>
              <a:t>TV Out – Uses DAC25 and I2S0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F34056-4995-438F-9758-38A2A4486DE8}"/>
              </a:ext>
            </a:extLst>
          </p:cNvPr>
          <p:cNvSpPr txBox="1"/>
          <p:nvPr/>
        </p:nvSpPr>
        <p:spPr>
          <a:xfrm>
            <a:off x="74951" y="395989"/>
            <a:ext cx="9069049" cy="43858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dirty="0">
                <a:solidFill>
                  <a:srgbClr val="808080"/>
                </a:solidFill>
                <a:latin typeface="Consolas" panose="020B0609020204030204" pitchFamily="49" charset="0"/>
              </a:rPr>
              <a:t>#include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5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950" dirty="0" err="1">
                <a:solidFill>
                  <a:srgbClr val="A31515"/>
                </a:solidFill>
                <a:latin typeface="Consolas" panose="020B0609020204030204" pitchFamily="49" charset="0"/>
              </a:rPr>
              <a:t>graphics.h</a:t>
            </a:r>
            <a:r>
              <a:rPr lang="en-US" sz="95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9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50" dirty="0" err="1">
                <a:solidFill>
                  <a:srgbClr val="2B91AF"/>
                </a:solidFill>
                <a:latin typeface="Consolas" panose="020B0609020204030204" pitchFamily="49" charset="0"/>
              </a:rPr>
              <a:t>TVout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Consolas" panose="020B0609020204030204" pitchFamily="49" charset="0"/>
              </a:rPr>
              <a:t>tvOut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95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Consolas" panose="020B0609020204030204" pitchFamily="49" charset="0"/>
              </a:rPr>
              <a:t>compositeCore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95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en-US" sz="950" dirty="0">
                <a:solidFill>
                  <a:srgbClr val="808080"/>
                </a:solidFill>
                <a:latin typeface="Consolas" panose="020B0609020204030204" pitchFamily="49" charset="0"/>
              </a:rPr>
              <a:t>data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950" dirty="0">
                <a:solidFill>
                  <a:srgbClr val="0000FF"/>
                </a:solidFill>
                <a:latin typeface="Consolas" panose="020B0609020204030204" pitchFamily="49" charset="0"/>
              </a:rPr>
              <a:t>	while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95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950" dirty="0" err="1">
                <a:solidFill>
                  <a:srgbClr val="000000"/>
                </a:solidFill>
                <a:latin typeface="Consolas" panose="020B0609020204030204" pitchFamily="49" charset="0"/>
              </a:rPr>
              <a:t>tvOut.sendFrame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1"/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95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 setup()</a:t>
            </a:r>
          </a:p>
          <a:p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US" sz="950" dirty="0" err="1">
                <a:solidFill>
                  <a:srgbClr val="000000"/>
                </a:solidFill>
                <a:latin typeface="Consolas" panose="020B0609020204030204" pitchFamily="49" charset="0"/>
              </a:rPr>
              <a:t>tvOut.init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1"/>
            <a:r>
              <a:rPr lang="en-US" sz="950" dirty="0" err="1">
                <a:solidFill>
                  <a:srgbClr val="000000"/>
                </a:solidFill>
                <a:latin typeface="Consolas" panose="020B0609020204030204" pitchFamily="49" charset="0"/>
              </a:rPr>
              <a:t>xTaskCreatePinnedToCore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950" dirty="0" err="1">
                <a:solidFill>
                  <a:srgbClr val="000000"/>
                </a:solidFill>
                <a:latin typeface="Consolas" panose="020B0609020204030204" pitchFamily="49" charset="0"/>
              </a:rPr>
              <a:t>compositeCore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950" dirty="0">
                <a:solidFill>
                  <a:srgbClr val="A31515"/>
                </a:solidFill>
                <a:latin typeface="Consolas" panose="020B0609020204030204" pitchFamily="49" charset="0"/>
              </a:rPr>
              <a:t>“</a:t>
            </a:r>
            <a:r>
              <a:rPr lang="en-US" sz="950" dirty="0" err="1">
                <a:solidFill>
                  <a:srgbClr val="A31515"/>
                </a:solidFill>
                <a:latin typeface="Consolas" panose="020B0609020204030204" pitchFamily="49" charset="0"/>
              </a:rPr>
              <a:t>tvOutTask</a:t>
            </a:r>
            <a:r>
              <a:rPr lang="en-US" sz="95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, 1024, </a:t>
            </a:r>
            <a:r>
              <a:rPr lang="en-US" sz="950" dirty="0">
                <a:solidFill>
                  <a:srgbClr val="6F008A"/>
                </a:solidFill>
                <a:latin typeface="Consolas" panose="020B0609020204030204" pitchFamily="49" charset="0"/>
              </a:rPr>
              <a:t>NULL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, 1, </a:t>
            </a:r>
            <a:r>
              <a:rPr lang="en-US" sz="950" dirty="0">
                <a:solidFill>
                  <a:srgbClr val="6F008A"/>
                </a:solidFill>
                <a:latin typeface="Consolas" panose="020B0609020204030204" pitchFamily="49" charset="0"/>
              </a:rPr>
              <a:t>NULL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, 0);</a:t>
            </a:r>
          </a:p>
          <a:p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95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 loop()</a:t>
            </a:r>
          </a:p>
          <a:p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US" sz="950" dirty="0">
                <a:solidFill>
                  <a:srgbClr val="0000FF"/>
                </a:solidFill>
                <a:latin typeface="Consolas" panose="020B0609020204030204" pitchFamily="49" charset="0"/>
              </a:rPr>
              <a:t>unsigned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50" dirty="0">
                <a:solidFill>
                  <a:srgbClr val="0000FF"/>
                </a:solidFill>
                <a:latin typeface="Consolas" panose="020B0609020204030204" pitchFamily="49" charset="0"/>
              </a:rPr>
              <a:t>long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 time;</a:t>
            </a:r>
          </a:p>
          <a:p>
            <a:pPr lvl="1"/>
            <a:r>
              <a:rPr lang="en-US" sz="950" dirty="0" err="1">
                <a:solidFill>
                  <a:srgbClr val="000000"/>
                </a:solidFill>
                <a:latin typeface="Consolas" panose="020B0609020204030204" pitchFamily="49" charset="0"/>
              </a:rPr>
              <a:t>tvOut.fillScr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(0xff, 0xff, 0xff);</a:t>
            </a:r>
          </a:p>
          <a:p>
            <a:pPr lvl="1"/>
            <a:r>
              <a:rPr lang="en-US" sz="950" dirty="0" err="1">
                <a:solidFill>
                  <a:srgbClr val="000000"/>
                </a:solidFill>
                <a:latin typeface="Consolas" panose="020B0609020204030204" pitchFamily="49" charset="0"/>
              </a:rPr>
              <a:t>tvOut.loadFonts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950" dirty="0">
                <a:solidFill>
                  <a:srgbClr val="2F4F4F"/>
                </a:solidFill>
                <a:latin typeface="Consolas" panose="020B0609020204030204" pitchFamily="49" charset="0"/>
              </a:rPr>
              <a:t>ORBITRON_LIGHT32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950" dirty="0" err="1">
                <a:solidFill>
                  <a:srgbClr val="000000"/>
                </a:solidFill>
                <a:latin typeface="Consolas" panose="020B0609020204030204" pitchFamily="49" charset="0"/>
              </a:rPr>
              <a:t>tvOut.setColor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(0, 0, 0);</a:t>
            </a:r>
          </a:p>
          <a:p>
            <a:pPr lvl="1"/>
            <a:r>
              <a:rPr lang="en-US" sz="950" dirty="0" err="1">
                <a:solidFill>
                  <a:srgbClr val="000000"/>
                </a:solidFill>
                <a:latin typeface="Consolas" panose="020B0609020204030204" pitchFamily="49" charset="0"/>
              </a:rPr>
              <a:t>tvOut.print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950" dirty="0">
                <a:solidFill>
                  <a:srgbClr val="A31515"/>
                </a:solidFill>
                <a:latin typeface="Consolas" panose="020B0609020204030204" pitchFamily="49" charset="0"/>
              </a:rPr>
              <a:t>"Driver Test..."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, 0, 100, </a:t>
            </a:r>
            <a:r>
              <a:rPr lang="en-US" sz="95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950" dirty="0" err="1">
                <a:solidFill>
                  <a:srgbClr val="000000"/>
                </a:solidFill>
                <a:latin typeface="Consolas" panose="020B0609020204030204" pitchFamily="49" charset="0"/>
              </a:rPr>
              <a:t>tvOut.setColor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(0xff, 0x00, 0x00);</a:t>
            </a:r>
          </a:p>
          <a:p>
            <a:pPr lvl="1"/>
            <a:r>
              <a:rPr lang="en-US" sz="950" dirty="0" err="1">
                <a:solidFill>
                  <a:srgbClr val="000000"/>
                </a:solidFill>
                <a:latin typeface="Consolas" panose="020B0609020204030204" pitchFamily="49" charset="0"/>
              </a:rPr>
              <a:t>tvOut.drawCircle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(50, 200, 20, </a:t>
            </a:r>
            <a:r>
              <a:rPr lang="en-US" sz="95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950" dirty="0" err="1">
                <a:solidFill>
                  <a:srgbClr val="000000"/>
                </a:solidFill>
                <a:latin typeface="Consolas" panose="020B0609020204030204" pitchFamily="49" charset="0"/>
              </a:rPr>
              <a:t>tvOut.setColor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(0x00, 0xff, 0x00);</a:t>
            </a:r>
          </a:p>
          <a:p>
            <a:pPr lvl="1"/>
            <a:r>
              <a:rPr lang="en-US" sz="950" dirty="0" err="1">
                <a:solidFill>
                  <a:srgbClr val="000000"/>
                </a:solidFill>
                <a:latin typeface="Consolas" panose="020B0609020204030204" pitchFamily="49" charset="0"/>
              </a:rPr>
              <a:t>tvOut.drawCircle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(100, 200, 20, </a:t>
            </a:r>
            <a:r>
              <a:rPr lang="en-US" sz="95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950" dirty="0" err="1">
                <a:solidFill>
                  <a:srgbClr val="000000"/>
                </a:solidFill>
                <a:latin typeface="Consolas" panose="020B0609020204030204" pitchFamily="49" charset="0"/>
              </a:rPr>
              <a:t>tvOut.setColor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(0x00, 0x00, 0xff);</a:t>
            </a:r>
          </a:p>
          <a:p>
            <a:pPr lvl="1"/>
            <a:r>
              <a:rPr lang="en-US" sz="950" dirty="0" err="1">
                <a:solidFill>
                  <a:srgbClr val="000000"/>
                </a:solidFill>
                <a:latin typeface="Consolas" panose="020B0609020204030204" pitchFamily="49" charset="0"/>
              </a:rPr>
              <a:t>tvOut.drawCircle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(150, 200, 20, </a:t>
            </a:r>
            <a:r>
              <a:rPr lang="en-US" sz="95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950" dirty="0" err="1">
                <a:solidFill>
                  <a:srgbClr val="000000"/>
                </a:solidFill>
                <a:latin typeface="Consolas" panose="020B0609020204030204" pitchFamily="49" charset="0"/>
              </a:rPr>
              <a:t>tvOut.swapFrameBuffers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1"/>
            <a:r>
              <a:rPr lang="en-US" sz="95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 (1);</a:t>
            </a:r>
          </a:p>
          <a:p>
            <a:r>
              <a:rPr lang="en-US" sz="95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950" dirty="0">
              <a:solidFill>
                <a:srgbClr val="003C7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8163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DC3DC2-E1E0-4ADC-99B4-EC41F3605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9D845F4-3243-4A3A-BD6F-1EFC4D254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42181"/>
          </a:xfrm>
        </p:spPr>
        <p:txBody>
          <a:bodyPr/>
          <a:lstStyle/>
          <a:p>
            <a:r>
              <a:rPr lang="en-US" dirty="0"/>
              <a:t>Generating bitmaps and using them in our code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1D1002-C2B2-4C45-AA39-B9812A6839A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742765"/>
            <a:ext cx="8228012" cy="3778927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Pick your image, make it a BMP file with size no larger than 240x135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Use the BMPconverter.exe in the tools directory in the GIT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The tool generates a C file containing the array (bitmap)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Place the file in your project directory as is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Generate a declaration in your main file (where loop resides)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extern const unsigned char/unsigned int/unsigned short </a:t>
            </a:r>
            <a:r>
              <a:rPr lang="en-US" sz="1600" dirty="0" err="1"/>
              <a:t>FlappyBird</a:t>
            </a:r>
            <a:r>
              <a:rPr lang="en-US" sz="1600" dirty="0"/>
              <a:t>[];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LCD.drawCompressed24bitBitmap(</a:t>
            </a:r>
            <a:r>
              <a:rPr lang="en-US" sz="1600" dirty="0" err="1"/>
              <a:t>x,y</a:t>
            </a:r>
            <a:r>
              <a:rPr lang="en-US" sz="1600" dirty="0"/>
              <a:t>, </a:t>
            </a:r>
            <a:r>
              <a:rPr lang="en-US" sz="1600" dirty="0" err="1"/>
              <a:t>FlappyBird</a:t>
            </a:r>
            <a:r>
              <a:rPr lang="en-US" sz="16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989656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B9F701-9BCD-4FE8-8E7C-43CB8515B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A8F9B70-87A0-4057-AA35-79E031908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53" y="45269"/>
            <a:ext cx="8229600" cy="356715"/>
          </a:xfrm>
        </p:spPr>
        <p:txBody>
          <a:bodyPr/>
          <a:lstStyle/>
          <a:p>
            <a:r>
              <a:rPr lang="en-US" dirty="0"/>
              <a:t>Interrupt driven driver – Led Matrix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B828C2-5CFA-44BD-9A6F-FCE24C1EF3D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9853" y="401984"/>
            <a:ext cx="8228012" cy="4322416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sz="750" dirty="0">
                <a:solidFill>
                  <a:srgbClr val="808080"/>
                </a:solidFill>
                <a:latin typeface="Consolas" panose="020B0609020204030204" pitchFamily="49" charset="0"/>
              </a:rPr>
              <a:t>#include</a:t>
            </a:r>
            <a:r>
              <a:rPr lang="en-US" sz="7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75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750" dirty="0" err="1">
                <a:solidFill>
                  <a:srgbClr val="A31515"/>
                </a:solidFill>
                <a:latin typeface="Consolas" panose="020B0609020204030204" pitchFamily="49" charset="0"/>
              </a:rPr>
              <a:t>SPI.h</a:t>
            </a:r>
            <a:r>
              <a:rPr lang="en-US" sz="75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7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US" sz="750" dirty="0">
                <a:solidFill>
                  <a:srgbClr val="808080"/>
                </a:solidFill>
                <a:latin typeface="Consolas" panose="020B0609020204030204" pitchFamily="49" charset="0"/>
              </a:rPr>
              <a:t>#include</a:t>
            </a:r>
            <a:r>
              <a:rPr lang="en-US" sz="7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75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750" dirty="0" err="1">
                <a:solidFill>
                  <a:srgbClr val="A31515"/>
                </a:solidFill>
                <a:latin typeface="Consolas" panose="020B0609020204030204" pitchFamily="49" charset="0"/>
              </a:rPr>
              <a:t>LedMatrix.h</a:t>
            </a:r>
            <a:r>
              <a:rPr lang="en-US" sz="75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7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US" sz="75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7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75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7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750" dirty="0" err="1">
                <a:solidFill>
                  <a:srgbClr val="000000"/>
                </a:solidFill>
                <a:latin typeface="Consolas" panose="020B0609020204030204" pitchFamily="49" charset="0"/>
              </a:rPr>
              <a:t>latchPin</a:t>
            </a:r>
            <a:r>
              <a:rPr lang="en-US" sz="750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pPr>
              <a:spcBef>
                <a:spcPts val="0"/>
              </a:spcBef>
            </a:pPr>
            <a:r>
              <a:rPr lang="fr-FR" sz="75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fr-FR" sz="7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75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fr-FR" sz="750" dirty="0">
                <a:solidFill>
                  <a:srgbClr val="000000"/>
                </a:solidFill>
                <a:latin typeface="Consolas" panose="020B0609020204030204" pitchFamily="49" charset="0"/>
              </a:rPr>
              <a:t> en_74138 = 16;</a:t>
            </a:r>
          </a:p>
          <a:p>
            <a:pPr>
              <a:spcBef>
                <a:spcPts val="0"/>
              </a:spcBef>
            </a:pPr>
            <a:r>
              <a:rPr lang="en-US" sz="75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7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75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750" dirty="0">
                <a:solidFill>
                  <a:srgbClr val="000000"/>
                </a:solidFill>
                <a:latin typeface="Consolas" panose="020B0609020204030204" pitchFamily="49" charset="0"/>
              </a:rPr>
              <a:t> la_74138 = 100; </a:t>
            </a:r>
            <a:r>
              <a:rPr lang="en-US" sz="750" dirty="0">
                <a:solidFill>
                  <a:srgbClr val="008000"/>
                </a:solidFill>
                <a:latin typeface="Consolas" panose="020B0609020204030204" pitchFamily="49" charset="0"/>
              </a:rPr>
              <a:t>// Use value of 100 for shift </a:t>
            </a:r>
            <a:r>
              <a:rPr lang="en-US" sz="750" dirty="0" err="1">
                <a:solidFill>
                  <a:srgbClr val="008000"/>
                </a:solidFill>
                <a:latin typeface="Consolas" panose="020B0609020204030204" pitchFamily="49" charset="0"/>
              </a:rPr>
              <a:t>rgister</a:t>
            </a:r>
            <a:r>
              <a:rPr lang="en-US" sz="750" dirty="0">
                <a:solidFill>
                  <a:srgbClr val="008000"/>
                </a:solidFill>
                <a:latin typeface="Consolas" panose="020B0609020204030204" pitchFamily="49" charset="0"/>
              </a:rPr>
              <a:t> implementation of the </a:t>
            </a:r>
            <a:r>
              <a:rPr lang="en-US" sz="750" dirty="0" err="1">
                <a:solidFill>
                  <a:srgbClr val="008000"/>
                </a:solidFill>
                <a:latin typeface="Consolas" panose="020B0609020204030204" pitchFamily="49" charset="0"/>
              </a:rPr>
              <a:t>la,lb,lc,ld</a:t>
            </a:r>
            <a:r>
              <a:rPr lang="en-US" sz="750" dirty="0">
                <a:solidFill>
                  <a:srgbClr val="008000"/>
                </a:solidFill>
                <a:latin typeface="Consolas" panose="020B0609020204030204" pitchFamily="49" charset="0"/>
              </a:rPr>
              <a:t> pins</a:t>
            </a:r>
            <a:endParaRPr lang="en-US" sz="7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US" sz="75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7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75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750" dirty="0">
                <a:solidFill>
                  <a:srgbClr val="000000"/>
                </a:solidFill>
                <a:latin typeface="Consolas" panose="020B0609020204030204" pitchFamily="49" charset="0"/>
              </a:rPr>
              <a:t> lb_74138 = 100; </a:t>
            </a:r>
            <a:r>
              <a:rPr lang="en-US" sz="750" dirty="0">
                <a:solidFill>
                  <a:srgbClr val="008000"/>
                </a:solidFill>
                <a:latin typeface="Consolas" panose="020B0609020204030204" pitchFamily="49" charset="0"/>
              </a:rPr>
              <a:t>// Not used</a:t>
            </a:r>
            <a:endParaRPr lang="en-US" sz="7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US" sz="75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7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75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750" dirty="0">
                <a:solidFill>
                  <a:srgbClr val="000000"/>
                </a:solidFill>
                <a:latin typeface="Consolas" panose="020B0609020204030204" pitchFamily="49" charset="0"/>
              </a:rPr>
              <a:t> lc_74138 = 100; </a:t>
            </a:r>
            <a:r>
              <a:rPr lang="en-US" sz="750" dirty="0">
                <a:solidFill>
                  <a:srgbClr val="008000"/>
                </a:solidFill>
                <a:latin typeface="Consolas" panose="020B0609020204030204" pitchFamily="49" charset="0"/>
              </a:rPr>
              <a:t>// Not used</a:t>
            </a:r>
            <a:endParaRPr lang="en-US" sz="7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US" sz="75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7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75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750" dirty="0">
                <a:solidFill>
                  <a:srgbClr val="000000"/>
                </a:solidFill>
                <a:latin typeface="Consolas" panose="020B0609020204030204" pitchFamily="49" charset="0"/>
              </a:rPr>
              <a:t> ld_74138 = 100; </a:t>
            </a:r>
            <a:r>
              <a:rPr lang="en-US" sz="750" dirty="0">
                <a:solidFill>
                  <a:srgbClr val="008000"/>
                </a:solidFill>
                <a:latin typeface="Consolas" panose="020B0609020204030204" pitchFamily="49" charset="0"/>
              </a:rPr>
              <a:t>// Not used</a:t>
            </a:r>
            <a:endParaRPr lang="en-US" sz="7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US" sz="75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7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75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750" dirty="0">
                <a:solidFill>
                  <a:srgbClr val="000000"/>
                </a:solidFill>
                <a:latin typeface="Consolas" panose="020B0609020204030204" pitchFamily="49" charset="0"/>
              </a:rPr>
              <a:t> le_74138 = 100; </a:t>
            </a:r>
            <a:r>
              <a:rPr lang="en-US" sz="750" dirty="0">
                <a:solidFill>
                  <a:srgbClr val="008000"/>
                </a:solidFill>
                <a:latin typeface="Consolas" panose="020B0609020204030204" pitchFamily="49" charset="0"/>
              </a:rPr>
              <a:t>// Not used</a:t>
            </a:r>
            <a:endParaRPr lang="en-US" sz="7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endParaRPr lang="en-US" sz="7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US" sz="750" dirty="0">
                <a:solidFill>
                  <a:srgbClr val="808080"/>
                </a:solidFill>
                <a:latin typeface="Consolas" panose="020B0609020204030204" pitchFamily="49" charset="0"/>
              </a:rPr>
              <a:t>#define</a:t>
            </a:r>
            <a:r>
              <a:rPr lang="en-US" sz="7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750" dirty="0">
                <a:solidFill>
                  <a:srgbClr val="6F008A"/>
                </a:solidFill>
                <a:latin typeface="Consolas" panose="020B0609020204030204" pitchFamily="49" charset="0"/>
              </a:rPr>
              <a:t>TIMER_INTERVAL </a:t>
            </a:r>
            <a:r>
              <a:rPr lang="en-US" sz="750" dirty="0">
                <a:solidFill>
                  <a:srgbClr val="000000"/>
                </a:solidFill>
                <a:latin typeface="Consolas" panose="020B0609020204030204" pitchFamily="49" charset="0"/>
              </a:rPr>
              <a:t>6250</a:t>
            </a:r>
          </a:p>
          <a:p>
            <a:pPr>
              <a:spcBef>
                <a:spcPts val="0"/>
              </a:spcBef>
            </a:pPr>
            <a:r>
              <a:rPr lang="fr-FR" sz="750" dirty="0" err="1">
                <a:solidFill>
                  <a:srgbClr val="2B91AF"/>
                </a:solidFill>
                <a:latin typeface="Consolas" panose="020B0609020204030204" pitchFamily="49" charset="0"/>
              </a:rPr>
              <a:t>RedLEDmatrix</a:t>
            </a:r>
            <a:r>
              <a:rPr lang="fr-FR" sz="750" dirty="0">
                <a:solidFill>
                  <a:srgbClr val="000000"/>
                </a:solidFill>
                <a:latin typeface="Consolas" panose="020B0609020204030204" pitchFamily="49" charset="0"/>
              </a:rPr>
              <a:t> matrix(</a:t>
            </a:r>
            <a:r>
              <a:rPr lang="fr-FR" sz="750" dirty="0" err="1">
                <a:solidFill>
                  <a:srgbClr val="000000"/>
                </a:solidFill>
                <a:latin typeface="Consolas" panose="020B0609020204030204" pitchFamily="49" charset="0"/>
              </a:rPr>
              <a:t>latchPin</a:t>
            </a:r>
            <a:r>
              <a:rPr lang="fr-FR" sz="750" dirty="0">
                <a:solidFill>
                  <a:srgbClr val="000000"/>
                </a:solidFill>
                <a:latin typeface="Consolas" panose="020B0609020204030204" pitchFamily="49" charset="0"/>
              </a:rPr>
              <a:t>, en_74138, la_74138, lb_74138, lc_74138, ld_74138,le_74138);</a:t>
            </a:r>
          </a:p>
          <a:p>
            <a:pPr>
              <a:spcBef>
                <a:spcPts val="0"/>
              </a:spcBef>
            </a:pPr>
            <a:endParaRPr lang="en-US" sz="7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US" sz="75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7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750" dirty="0">
                <a:solidFill>
                  <a:srgbClr val="6F008A"/>
                </a:solidFill>
                <a:latin typeface="Consolas" panose="020B0609020204030204" pitchFamily="49" charset="0"/>
              </a:rPr>
              <a:t>ICACHE_RAM_ATTR</a:t>
            </a:r>
            <a:r>
              <a:rPr lang="en-US" sz="7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750" dirty="0" err="1">
                <a:solidFill>
                  <a:srgbClr val="000000"/>
                </a:solidFill>
                <a:latin typeface="Consolas" panose="020B0609020204030204" pitchFamily="49" charset="0"/>
              </a:rPr>
              <a:t>onTimerISR</a:t>
            </a:r>
            <a:r>
              <a:rPr lang="en-US" sz="75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spcBef>
                <a:spcPts val="0"/>
              </a:spcBef>
            </a:pPr>
            <a:r>
              <a:rPr lang="en-US" sz="75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spcBef>
                <a:spcPts val="0"/>
              </a:spcBef>
            </a:pPr>
            <a:r>
              <a:rPr lang="en-US" sz="75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750" dirty="0" err="1">
                <a:solidFill>
                  <a:srgbClr val="000000"/>
                </a:solidFill>
                <a:latin typeface="Consolas" panose="020B0609020204030204" pitchFamily="49" charset="0"/>
              </a:rPr>
              <a:t>matrix.shiftOutRow</a:t>
            </a:r>
            <a:r>
              <a:rPr lang="en-US" sz="75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0"/>
              </a:spcBef>
            </a:pPr>
            <a:r>
              <a:rPr lang="en-US" sz="75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0"/>
              </a:spcBef>
            </a:pPr>
            <a:endParaRPr lang="en-US" sz="7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US" sz="75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750" dirty="0">
                <a:solidFill>
                  <a:srgbClr val="000000"/>
                </a:solidFill>
                <a:latin typeface="Consolas" panose="020B0609020204030204" pitchFamily="49" charset="0"/>
              </a:rPr>
              <a:t> setup() </a:t>
            </a:r>
          </a:p>
          <a:p>
            <a:pPr>
              <a:spcBef>
                <a:spcPts val="0"/>
              </a:spcBef>
            </a:pPr>
            <a:r>
              <a:rPr lang="en-US" sz="75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spcBef>
                <a:spcPts val="0"/>
              </a:spcBef>
            </a:pPr>
            <a:r>
              <a:rPr lang="en-US" sz="750" dirty="0">
                <a:solidFill>
                  <a:srgbClr val="008000"/>
                </a:solidFill>
                <a:latin typeface="Consolas" panose="020B0609020204030204" pitchFamily="49" charset="0"/>
              </a:rPr>
              <a:t>	//Initialize Ticker for Matrix</a:t>
            </a:r>
            <a:endParaRPr lang="en-US" sz="7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US" sz="750" dirty="0">
                <a:solidFill>
                  <a:srgbClr val="000000"/>
                </a:solidFill>
                <a:latin typeface="Consolas" panose="020B0609020204030204" pitchFamily="49" charset="0"/>
              </a:rPr>
              <a:t>	timer1_attachInterrupt(</a:t>
            </a:r>
            <a:r>
              <a:rPr lang="en-US" sz="750" dirty="0" err="1">
                <a:solidFill>
                  <a:srgbClr val="000000"/>
                </a:solidFill>
                <a:latin typeface="Consolas" panose="020B0609020204030204" pitchFamily="49" charset="0"/>
              </a:rPr>
              <a:t>onTimerISR</a:t>
            </a:r>
            <a:r>
              <a:rPr lang="en-US" sz="75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spcBef>
                <a:spcPts val="0"/>
              </a:spcBef>
            </a:pPr>
            <a:r>
              <a:rPr lang="en-US" sz="750" dirty="0">
                <a:solidFill>
                  <a:srgbClr val="000000"/>
                </a:solidFill>
                <a:latin typeface="Consolas" panose="020B0609020204030204" pitchFamily="49" charset="0"/>
              </a:rPr>
              <a:t>	timer1_enable(</a:t>
            </a:r>
            <a:r>
              <a:rPr lang="en-US" sz="750" dirty="0">
                <a:solidFill>
                  <a:srgbClr val="2F4F4F"/>
                </a:solidFill>
                <a:latin typeface="Consolas" panose="020B0609020204030204" pitchFamily="49" charset="0"/>
              </a:rPr>
              <a:t>TIM_DIV16</a:t>
            </a:r>
            <a:r>
              <a:rPr lang="en-US" sz="75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750" dirty="0">
                <a:solidFill>
                  <a:srgbClr val="6F008A"/>
                </a:solidFill>
                <a:latin typeface="Consolas" panose="020B0609020204030204" pitchFamily="49" charset="0"/>
              </a:rPr>
              <a:t>TIM_EDGE</a:t>
            </a:r>
            <a:r>
              <a:rPr lang="en-US" sz="75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750" dirty="0">
                <a:solidFill>
                  <a:srgbClr val="6F008A"/>
                </a:solidFill>
                <a:latin typeface="Consolas" panose="020B0609020204030204" pitchFamily="49" charset="0"/>
              </a:rPr>
              <a:t>TIM_LOOP</a:t>
            </a:r>
            <a:r>
              <a:rPr lang="en-US" sz="75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spcBef>
                <a:spcPts val="0"/>
              </a:spcBef>
            </a:pPr>
            <a:r>
              <a:rPr lang="en-US" sz="750" dirty="0">
                <a:solidFill>
                  <a:srgbClr val="000000"/>
                </a:solidFill>
                <a:latin typeface="Consolas" panose="020B0609020204030204" pitchFamily="49" charset="0"/>
              </a:rPr>
              <a:t>	timer1_write(</a:t>
            </a:r>
            <a:r>
              <a:rPr lang="en-US" sz="750" dirty="0">
                <a:solidFill>
                  <a:srgbClr val="6F008A"/>
                </a:solidFill>
                <a:latin typeface="Consolas" panose="020B0609020204030204" pitchFamily="49" charset="0"/>
              </a:rPr>
              <a:t>TIMER_INTERVAL</a:t>
            </a:r>
            <a:r>
              <a:rPr lang="en-US" sz="75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sz="750" dirty="0">
                <a:solidFill>
                  <a:srgbClr val="008000"/>
                </a:solidFill>
                <a:latin typeface="Consolas" panose="020B0609020204030204" pitchFamily="49" charset="0"/>
              </a:rPr>
              <a:t>// 5MHz/800 (16*50) = 6250 (50 frames per second)</a:t>
            </a:r>
            <a:endParaRPr lang="en-US" sz="7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US" sz="75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750" dirty="0" err="1">
                <a:solidFill>
                  <a:srgbClr val="000000"/>
                </a:solidFill>
                <a:latin typeface="Consolas" panose="020B0609020204030204" pitchFamily="49" charset="0"/>
              </a:rPr>
              <a:t>ESP.wdtEnable</a:t>
            </a:r>
            <a:r>
              <a:rPr lang="en-US" sz="750" dirty="0">
                <a:solidFill>
                  <a:srgbClr val="000000"/>
                </a:solidFill>
                <a:latin typeface="Consolas" panose="020B0609020204030204" pitchFamily="49" charset="0"/>
              </a:rPr>
              <a:t>(8000);</a:t>
            </a:r>
          </a:p>
          <a:p>
            <a:pPr>
              <a:spcBef>
                <a:spcPts val="0"/>
              </a:spcBef>
            </a:pPr>
            <a:r>
              <a:rPr lang="en-US" sz="75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0"/>
              </a:spcBef>
            </a:pPr>
            <a:endParaRPr lang="en-US" sz="7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US" sz="75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750" dirty="0">
                <a:solidFill>
                  <a:srgbClr val="000000"/>
                </a:solidFill>
                <a:latin typeface="Consolas" panose="020B0609020204030204" pitchFamily="49" charset="0"/>
              </a:rPr>
              <a:t> loop() </a:t>
            </a:r>
          </a:p>
          <a:p>
            <a:pPr>
              <a:spcBef>
                <a:spcPts val="0"/>
              </a:spcBef>
            </a:pPr>
            <a:r>
              <a:rPr lang="en-US" sz="75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346075" lvl="2" indent="0">
              <a:spcBef>
                <a:spcPts val="0"/>
              </a:spcBef>
              <a:buNone/>
            </a:pPr>
            <a:r>
              <a:rPr lang="en-US" sz="750" dirty="0" err="1">
                <a:solidFill>
                  <a:srgbClr val="000000"/>
                </a:solidFill>
                <a:latin typeface="Consolas" panose="020B0609020204030204" pitchFamily="49" charset="0"/>
              </a:rPr>
              <a:t>matrix.clrScr</a:t>
            </a:r>
            <a:r>
              <a:rPr lang="en-US" sz="75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346075" lvl="2" indent="0">
              <a:spcBef>
                <a:spcPts val="0"/>
              </a:spcBef>
              <a:buNone/>
            </a:pPr>
            <a:r>
              <a:rPr lang="en-US" sz="750" dirty="0" err="1">
                <a:solidFill>
                  <a:srgbClr val="000000"/>
                </a:solidFill>
                <a:latin typeface="Consolas" panose="020B0609020204030204" pitchFamily="49" charset="0"/>
              </a:rPr>
              <a:t>matrix.setColor</a:t>
            </a:r>
            <a:r>
              <a:rPr lang="en-US" sz="75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750" dirty="0">
                <a:solidFill>
                  <a:srgbClr val="2F4F4F"/>
                </a:solidFill>
                <a:latin typeface="Consolas" panose="020B0609020204030204" pitchFamily="49" charset="0"/>
              </a:rPr>
              <a:t>RED_COLOR</a:t>
            </a:r>
            <a:r>
              <a:rPr lang="en-US" sz="75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346075" lvl="2" indent="0">
              <a:spcBef>
                <a:spcPts val="0"/>
              </a:spcBef>
              <a:buNone/>
            </a:pPr>
            <a:r>
              <a:rPr lang="fr-FR" sz="750" dirty="0" err="1">
                <a:solidFill>
                  <a:srgbClr val="000000"/>
                </a:solidFill>
                <a:latin typeface="Consolas" panose="020B0609020204030204" pitchFamily="49" charset="0"/>
              </a:rPr>
              <a:t>matrix.drawLine</a:t>
            </a:r>
            <a:r>
              <a:rPr lang="fr-FR" sz="750" dirty="0">
                <a:solidFill>
                  <a:srgbClr val="000000"/>
                </a:solidFill>
                <a:latin typeface="Consolas" panose="020B0609020204030204" pitchFamily="49" charset="0"/>
              </a:rPr>
              <a:t>(0, 0, 63, 15);</a:t>
            </a:r>
          </a:p>
          <a:p>
            <a:pPr marL="346075" lvl="2" indent="0">
              <a:spcBef>
                <a:spcPts val="0"/>
              </a:spcBef>
              <a:buNone/>
            </a:pPr>
            <a:r>
              <a:rPr lang="en-US" sz="750" dirty="0" err="1">
                <a:solidFill>
                  <a:srgbClr val="000000"/>
                </a:solidFill>
                <a:latin typeface="Consolas" panose="020B0609020204030204" pitchFamily="49" charset="0"/>
              </a:rPr>
              <a:t>matrix.swapFrameBuffer</a:t>
            </a:r>
            <a:r>
              <a:rPr lang="en-US" sz="75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346075" lvl="2" indent="0">
              <a:spcBef>
                <a:spcPts val="0"/>
              </a:spcBef>
              <a:buNone/>
            </a:pPr>
            <a:r>
              <a:rPr lang="en-US" sz="75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750" dirty="0">
                <a:solidFill>
                  <a:srgbClr val="000000"/>
                </a:solidFill>
                <a:latin typeface="Consolas" panose="020B0609020204030204" pitchFamily="49" charset="0"/>
              </a:rPr>
              <a:t> (1)</a:t>
            </a:r>
          </a:p>
          <a:p>
            <a:pPr marL="346075" lvl="2" indent="0">
              <a:spcBef>
                <a:spcPts val="0"/>
              </a:spcBef>
              <a:buNone/>
            </a:pPr>
            <a:r>
              <a:rPr lang="en-US" sz="75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346075" lvl="2" indent="0">
              <a:spcBef>
                <a:spcPts val="0"/>
              </a:spcBef>
              <a:buNone/>
            </a:pPr>
            <a:r>
              <a:rPr lang="en-US" sz="75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750" dirty="0" err="1">
                <a:solidFill>
                  <a:srgbClr val="000000"/>
                </a:solidFill>
                <a:latin typeface="Consolas" panose="020B0609020204030204" pitchFamily="49" charset="0"/>
              </a:rPr>
              <a:t>ESP.wdtFeed</a:t>
            </a:r>
            <a:r>
              <a:rPr lang="en-US" sz="75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346075" lvl="2" indent="0">
              <a:spcBef>
                <a:spcPts val="0"/>
              </a:spcBef>
              <a:buNone/>
            </a:pPr>
            <a:r>
              <a:rPr lang="en-US" sz="75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0"/>
              </a:spcBef>
            </a:pPr>
            <a:r>
              <a:rPr lang="en-US" sz="75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4030005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C8F5C4-0CAC-48A4-A8D9-2FE2A2201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954265-EDF5-429B-A71D-1FB8CEBC9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69" y="45269"/>
            <a:ext cx="8229600" cy="338479"/>
          </a:xfrm>
        </p:spPr>
        <p:txBody>
          <a:bodyPr/>
          <a:lstStyle/>
          <a:p>
            <a:r>
              <a:rPr lang="en-US" sz="3600" dirty="0">
                <a:solidFill>
                  <a:srgbClr val="FFC000"/>
                </a:solidFill>
              </a:rPr>
              <a:t>Accessor based driver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B01053-3301-4227-B5C7-ED34B053CBE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83" y="383748"/>
            <a:ext cx="8228012" cy="3425825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sz="700" dirty="0">
                <a:solidFill>
                  <a:srgbClr val="808080"/>
                </a:solidFill>
                <a:latin typeface="Consolas" panose="020B0609020204030204" pitchFamily="49" charset="0"/>
              </a:rPr>
              <a:t>#include</a:t>
            </a:r>
            <a:r>
              <a:rPr 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700" dirty="0">
                <a:solidFill>
                  <a:srgbClr val="A31515"/>
                </a:solidFill>
                <a:latin typeface="Consolas" panose="020B0609020204030204" pitchFamily="49" charset="0"/>
              </a:rPr>
              <a:t>"driver/</a:t>
            </a:r>
            <a:r>
              <a:rPr lang="en-US" sz="700" dirty="0" err="1">
                <a:solidFill>
                  <a:srgbClr val="A31515"/>
                </a:solidFill>
                <a:latin typeface="Consolas" panose="020B0609020204030204" pitchFamily="49" charset="0"/>
              </a:rPr>
              <a:t>uart.h</a:t>
            </a:r>
            <a:r>
              <a:rPr lang="en-US" sz="7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7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US" sz="700" dirty="0">
                <a:solidFill>
                  <a:srgbClr val="808080"/>
                </a:solidFill>
                <a:latin typeface="Consolas" panose="020B0609020204030204" pitchFamily="49" charset="0"/>
              </a:rPr>
              <a:t>#include</a:t>
            </a:r>
            <a:r>
              <a:rPr 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700" dirty="0">
                <a:solidFill>
                  <a:srgbClr val="A31515"/>
                </a:solidFill>
                <a:latin typeface="Consolas" panose="020B0609020204030204" pitchFamily="49" charset="0"/>
              </a:rPr>
              <a:t>"CH559.h“</a:t>
            </a:r>
          </a:p>
          <a:p>
            <a:pPr>
              <a:spcBef>
                <a:spcPts val="0"/>
              </a:spcBef>
            </a:pPr>
            <a:r>
              <a:rPr lang="en-US" sz="7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700" dirty="0">
                <a:solidFill>
                  <a:srgbClr val="2B91AF"/>
                </a:solidFill>
                <a:latin typeface="Consolas" panose="020B0609020204030204" pitchFamily="49" charset="0"/>
              </a:rPr>
              <a:t>ch559uartAcc</a:t>
            </a:r>
            <a:r>
              <a:rPr 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sz="7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700" dirty="0" err="1">
                <a:solidFill>
                  <a:srgbClr val="2B91AF"/>
                </a:solidFill>
                <a:latin typeface="Consolas" panose="020B0609020204030204" pitchFamily="49" charset="0"/>
              </a:rPr>
              <a:t>UARTaccessor</a:t>
            </a:r>
            <a:endParaRPr lang="en-US" sz="7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spcBef>
                <a:spcPts val="0"/>
              </a:spcBef>
            </a:pPr>
            <a:r>
              <a:rPr lang="en-US" sz="700" dirty="0">
                <a:solidFill>
                  <a:srgbClr val="0000FF"/>
                </a:solidFill>
                <a:latin typeface="Consolas" panose="020B0609020204030204" pitchFamily="49" charset="0"/>
              </a:rPr>
              <a:t>  public</a:t>
            </a:r>
            <a:r>
              <a:rPr 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spcBef>
                <a:spcPts val="0"/>
              </a:spcBef>
            </a:pPr>
            <a:r>
              <a:rPr 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  ch559uartAcc() {};</a:t>
            </a:r>
          </a:p>
          <a:p>
            <a:pPr>
              <a:spcBef>
                <a:spcPts val="0"/>
              </a:spcBef>
            </a:pPr>
            <a:r>
              <a:rPr 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  ~ch559uartAcc() {};</a:t>
            </a:r>
          </a:p>
          <a:p>
            <a:pPr>
              <a:spcBef>
                <a:spcPts val="0"/>
              </a:spcBef>
            </a:pPr>
            <a:r>
              <a:rPr lang="en-US" sz="700" dirty="0">
                <a:solidFill>
                  <a:srgbClr val="0000FF"/>
                </a:solidFill>
                <a:latin typeface="Consolas" panose="020B0609020204030204" pitchFamily="49" charset="0"/>
              </a:rPr>
              <a:t>  bool</a:t>
            </a:r>
            <a:r>
              <a:rPr 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700" dirty="0" err="1">
                <a:solidFill>
                  <a:srgbClr val="000000"/>
                </a:solidFill>
                <a:latin typeface="Consolas" panose="020B0609020204030204" pitchFamily="49" charset="0"/>
              </a:rPr>
              <a:t>init</a:t>
            </a:r>
            <a:r>
              <a:rPr 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spcBef>
                <a:spcPts val="0"/>
              </a:spcBef>
            </a:pPr>
            <a:r>
              <a:rPr 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  {</a:t>
            </a:r>
          </a:p>
          <a:p>
            <a:pPr>
              <a:spcBef>
                <a:spcPts val="0"/>
              </a:spcBef>
            </a:pPr>
            <a:r>
              <a:rPr lang="pt-BR" sz="700" dirty="0">
                <a:solidFill>
                  <a:srgbClr val="000000"/>
                </a:solidFill>
                <a:latin typeface="Consolas" panose="020B0609020204030204" pitchFamily="49" charset="0"/>
              </a:rPr>
              <a:t>    Serial1.begin(1000000, </a:t>
            </a:r>
            <a:r>
              <a:rPr lang="pt-BR" sz="700" dirty="0">
                <a:solidFill>
                  <a:srgbClr val="6F008A"/>
                </a:solidFill>
                <a:latin typeface="Consolas" panose="020B0609020204030204" pitchFamily="49" charset="0"/>
              </a:rPr>
              <a:t>SERIAL_8N1</a:t>
            </a:r>
            <a:r>
              <a:rPr lang="pt-BR" sz="700" dirty="0">
                <a:solidFill>
                  <a:srgbClr val="000000"/>
                </a:solidFill>
                <a:latin typeface="Consolas" panose="020B0609020204030204" pitchFamily="49" charset="0"/>
              </a:rPr>
              <a:t>, 19, 23);</a:t>
            </a:r>
          </a:p>
          <a:p>
            <a:pPr>
              <a:spcBef>
                <a:spcPts val="0"/>
              </a:spcBef>
            </a:pPr>
            <a:r>
              <a:rPr 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    Serial1.setRxBufferSize(128);</a:t>
            </a:r>
          </a:p>
          <a:p>
            <a:pPr>
              <a:spcBef>
                <a:spcPts val="0"/>
              </a:spcBef>
            </a:pPr>
            <a:r>
              <a:rPr lang="en-US" sz="700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7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spcBef>
                <a:spcPts val="0"/>
              </a:spcBef>
            </a:pPr>
            <a:r>
              <a:rPr 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spcBef>
                <a:spcPts val="0"/>
              </a:spcBef>
            </a:pPr>
            <a:r>
              <a:rPr lang="en-US" sz="700" dirty="0">
                <a:solidFill>
                  <a:srgbClr val="0000FF"/>
                </a:solidFill>
                <a:latin typeface="Consolas" panose="020B0609020204030204" pitchFamily="49" charset="0"/>
              </a:rPr>
              <a:t>  int</a:t>
            </a:r>
            <a:r>
              <a:rPr 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 available()</a:t>
            </a:r>
          </a:p>
          <a:p>
            <a:pPr>
              <a:spcBef>
                <a:spcPts val="0"/>
              </a:spcBef>
            </a:pPr>
            <a:r>
              <a:rPr 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  {</a:t>
            </a:r>
          </a:p>
          <a:p>
            <a:pPr>
              <a:spcBef>
                <a:spcPts val="0"/>
              </a:spcBef>
            </a:pPr>
            <a:r>
              <a:rPr lang="en-US" sz="700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 Serial1.available();</a:t>
            </a:r>
          </a:p>
          <a:p>
            <a:pPr>
              <a:spcBef>
                <a:spcPts val="0"/>
              </a:spcBef>
            </a:pPr>
            <a:r>
              <a:rPr 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spcBef>
                <a:spcPts val="0"/>
              </a:spcBef>
            </a:pPr>
            <a:r>
              <a:rPr lang="en-US" sz="700" dirty="0">
                <a:solidFill>
                  <a:srgbClr val="0000FF"/>
                </a:solidFill>
                <a:latin typeface="Consolas" panose="020B0609020204030204" pitchFamily="49" charset="0"/>
              </a:rPr>
              <a:t>  int</a:t>
            </a:r>
            <a:r>
              <a:rPr 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 read()</a:t>
            </a:r>
          </a:p>
          <a:p>
            <a:pPr>
              <a:spcBef>
                <a:spcPts val="0"/>
              </a:spcBef>
            </a:pPr>
            <a:r>
              <a:rPr 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  {</a:t>
            </a:r>
          </a:p>
          <a:p>
            <a:pPr>
              <a:spcBef>
                <a:spcPts val="0"/>
              </a:spcBef>
            </a:pPr>
            <a:r>
              <a:rPr lang="en-US" sz="700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 Serial1.read();</a:t>
            </a:r>
          </a:p>
          <a:p>
            <a:pPr>
              <a:spcBef>
                <a:spcPts val="0"/>
              </a:spcBef>
            </a:pPr>
            <a:r>
              <a:rPr 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spcBef>
                <a:spcPts val="0"/>
              </a:spcBef>
            </a:pPr>
            <a:r>
              <a:rPr lang="en-US" sz="700" dirty="0">
                <a:solidFill>
                  <a:srgbClr val="0000FF"/>
                </a:solidFill>
                <a:latin typeface="Consolas" panose="020B0609020204030204" pitchFamily="49" charset="0"/>
              </a:rPr>
              <a:t>  void</a:t>
            </a:r>
            <a:r>
              <a:rPr 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 write(</a:t>
            </a:r>
            <a:r>
              <a:rPr lang="en-US" sz="700" dirty="0">
                <a:solidFill>
                  <a:srgbClr val="0000FF"/>
                </a:solidFill>
                <a:latin typeface="Consolas" panose="020B0609020204030204" pitchFamily="49" charset="0"/>
              </a:rPr>
              <a:t>unsigned</a:t>
            </a:r>
            <a:r>
              <a:rPr 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7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700" dirty="0">
                <a:solidFill>
                  <a:srgbClr val="808080"/>
                </a:solidFill>
                <a:latin typeface="Consolas" panose="020B0609020204030204" pitchFamily="49" charset="0"/>
              </a:rPr>
              <a:t>c</a:t>
            </a:r>
            <a:r>
              <a:rPr 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spcBef>
                <a:spcPts val="0"/>
              </a:spcBef>
            </a:pPr>
            <a:r>
              <a:rPr 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  {</a:t>
            </a:r>
          </a:p>
          <a:p>
            <a:pPr>
              <a:spcBef>
                <a:spcPts val="0"/>
              </a:spcBef>
            </a:pPr>
            <a:r>
              <a:rPr 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    Serial1.write(</a:t>
            </a:r>
            <a:r>
              <a:rPr lang="en-US" sz="700" dirty="0">
                <a:solidFill>
                  <a:srgbClr val="808080"/>
                </a:solidFill>
                <a:latin typeface="Consolas" panose="020B0609020204030204" pitchFamily="49" charset="0"/>
              </a:rPr>
              <a:t>c</a:t>
            </a:r>
            <a:r>
              <a:rPr 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spcBef>
                <a:spcPts val="0"/>
              </a:spcBef>
            </a:pPr>
            <a:r>
              <a:rPr 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spcBef>
                <a:spcPts val="0"/>
              </a:spcBef>
            </a:pPr>
            <a:r>
              <a:rPr 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>
              <a:spcBef>
                <a:spcPts val="0"/>
              </a:spcBef>
            </a:pPr>
            <a:r>
              <a:rPr lang="en-US" sz="700" dirty="0" err="1">
                <a:solidFill>
                  <a:srgbClr val="2B91AF"/>
                </a:solidFill>
                <a:latin typeface="Consolas" panose="020B0609020204030204" pitchFamily="49" charset="0"/>
              </a:rPr>
              <a:t>HIDdevice</a:t>
            </a:r>
            <a:r>
              <a:rPr lang="en-US" sz="7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700" dirty="0" err="1">
                <a:solidFill>
                  <a:schemeClr val="tx1"/>
                </a:solidFill>
                <a:latin typeface="Consolas" panose="020B0609020204030204" pitchFamily="49" charset="0"/>
              </a:rPr>
              <a:t>hidDevice</a:t>
            </a:r>
            <a:r>
              <a:rPr lang="en-US" sz="700" dirty="0">
                <a:solidFill>
                  <a:srgbClr val="0000FF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spcBef>
                <a:spcPts val="0"/>
              </a:spcBef>
            </a:pPr>
            <a:r>
              <a:rPr lang="en-US" sz="700" dirty="0">
                <a:solidFill>
                  <a:srgbClr val="2B91AF"/>
                </a:solidFill>
                <a:latin typeface="Consolas" panose="020B0609020204030204" pitchFamily="49" charset="0"/>
              </a:rPr>
              <a:t>ch559uartAcc</a:t>
            </a:r>
            <a:r>
              <a:rPr lang="en-US" sz="7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700" dirty="0">
                <a:solidFill>
                  <a:schemeClr val="tx1"/>
                </a:solidFill>
                <a:latin typeface="Consolas" panose="020B0609020204030204" pitchFamily="49" charset="0"/>
              </a:rPr>
              <a:t>ch559accessor</a:t>
            </a:r>
            <a:r>
              <a:rPr lang="en-US" sz="700" dirty="0">
                <a:solidFill>
                  <a:srgbClr val="0000FF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spcBef>
                <a:spcPts val="0"/>
              </a:spcBef>
            </a:pPr>
            <a:r>
              <a:rPr lang="en-US" sz="700" dirty="0">
                <a:solidFill>
                  <a:srgbClr val="2B91AF"/>
                </a:solidFill>
                <a:latin typeface="Consolas" panose="020B0609020204030204" pitchFamily="49" charset="0"/>
              </a:rPr>
              <a:t>CH559</a:t>
            </a:r>
            <a:r>
              <a:rPr lang="en-US" sz="7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700" dirty="0">
                <a:solidFill>
                  <a:schemeClr val="tx1"/>
                </a:solidFill>
                <a:latin typeface="Consolas" panose="020B0609020204030204" pitchFamily="49" charset="0"/>
              </a:rPr>
              <a:t>ch559port(&amp;ch559accessor);</a:t>
            </a:r>
          </a:p>
          <a:p>
            <a:pPr>
              <a:spcBef>
                <a:spcPts val="0"/>
              </a:spcBef>
            </a:pPr>
            <a:r>
              <a:rPr lang="en-US" sz="7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 setup(</a:t>
            </a:r>
            <a:r>
              <a:rPr lang="en-US" sz="7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pPr>
              <a:spcBef>
                <a:spcPts val="0"/>
              </a:spcBef>
            </a:pPr>
            <a:r>
              <a:rPr 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spcBef>
                <a:spcPts val="0"/>
              </a:spcBef>
            </a:pPr>
            <a:r>
              <a:rPr 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  ch559port.init();</a:t>
            </a:r>
          </a:p>
          <a:p>
            <a:pPr>
              <a:spcBef>
                <a:spcPts val="0"/>
              </a:spcBef>
            </a:pPr>
            <a:r>
              <a:rPr 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  delay(100);</a:t>
            </a:r>
          </a:p>
          <a:p>
            <a:pPr>
              <a:spcBef>
                <a:spcPts val="0"/>
              </a:spcBef>
            </a:pPr>
            <a:r>
              <a:rPr 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0"/>
              </a:spcBef>
            </a:pPr>
            <a:r>
              <a:rPr lang="en-US" sz="7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 loop() </a:t>
            </a:r>
          </a:p>
          <a:p>
            <a:pPr>
              <a:spcBef>
                <a:spcPts val="0"/>
              </a:spcBef>
            </a:pPr>
            <a:r>
              <a:rPr 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spcBef>
                <a:spcPts val="0"/>
              </a:spcBef>
            </a:pPr>
            <a:r>
              <a:rPr lang="en-US" sz="700" dirty="0">
                <a:solidFill>
                  <a:srgbClr val="0000FF"/>
                </a:solidFill>
                <a:latin typeface="Consolas" panose="020B0609020204030204" pitchFamily="49" charset="0"/>
              </a:rPr>
              <a:t>  if</a:t>
            </a:r>
            <a:r>
              <a:rPr 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 (ch559port.update(&amp;</a:t>
            </a:r>
            <a:r>
              <a:rPr lang="en-US" sz="700" dirty="0" err="1">
                <a:solidFill>
                  <a:srgbClr val="000000"/>
                </a:solidFill>
                <a:latin typeface="Consolas" panose="020B0609020204030204" pitchFamily="49" charset="0"/>
              </a:rPr>
              <a:t>hidDevice</a:t>
            </a:r>
            <a:r>
              <a:rPr 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>
              <a:spcBef>
                <a:spcPts val="0"/>
              </a:spcBef>
            </a:pPr>
            <a:r>
              <a:rPr 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  {</a:t>
            </a:r>
          </a:p>
          <a:p>
            <a:pPr>
              <a:spcBef>
                <a:spcPts val="0"/>
              </a:spcBef>
            </a:pPr>
            <a:r>
              <a:rPr 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700" dirty="0">
                <a:solidFill>
                  <a:srgbClr val="FFC000"/>
                </a:solidFill>
                <a:latin typeface="Consolas" panose="020B0609020204030204" pitchFamily="49" charset="0"/>
              </a:rPr>
              <a:t>// Use the data in </a:t>
            </a:r>
            <a:r>
              <a:rPr lang="en-US" sz="700" dirty="0" err="1">
                <a:solidFill>
                  <a:srgbClr val="FFC000"/>
                </a:solidFill>
                <a:latin typeface="Consolas" panose="020B0609020204030204" pitchFamily="49" charset="0"/>
              </a:rPr>
              <a:t>hidDevice</a:t>
            </a:r>
            <a:endParaRPr lang="en-US" sz="700" dirty="0">
              <a:solidFill>
                <a:srgbClr val="FFC000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spcBef>
                <a:spcPts val="0"/>
              </a:spcBef>
            </a:pPr>
            <a:r>
              <a:rPr 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1956755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15537B-EBF1-40F0-884A-8C6B3D25F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DE3C098-505A-4287-AF6E-9C8601CEF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98406"/>
          </a:xfrm>
        </p:spPr>
        <p:txBody>
          <a:bodyPr/>
          <a:lstStyle/>
          <a:p>
            <a:r>
              <a:rPr lang="en-US" dirty="0"/>
              <a:t>Flash memory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3C8502-0B55-49F8-B4D8-C5B0CAC8D16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742765"/>
            <a:ext cx="8228012" cy="388638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Non volatile programable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Most common interface is SPI (1,4 or 8 bits)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Sector based (4KB, 8KB, 16KB, 64KB, 128KB) – ESP32’s flash sector size is 4KB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After erase the state of all erased bits is logic 1(0xFFFFFFFF)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We can set any bit to 0, but cannot set it back to 1 unless we </a:t>
            </a:r>
            <a:r>
              <a:rPr lang="en-US" sz="1400" b="1" dirty="0"/>
              <a:t>erase a complete sector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Sector can be erased around </a:t>
            </a:r>
            <a:r>
              <a:rPr lang="en-US" sz="1400" b="1" dirty="0"/>
              <a:t>100000</a:t>
            </a:r>
            <a:r>
              <a:rPr lang="en-US" sz="1400" dirty="0"/>
              <a:t> times!! That’s all!!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Erase operation is long (~10ms)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Not suitable serving a memory for counters (will stop functioning after 100000 time!)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Sectors can be protected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2118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AB084F-0E54-4D2D-A8C2-4B8484E39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C466EF-1FF9-4BDB-8C85-7D7364FD1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80651"/>
          </a:xfrm>
        </p:spPr>
        <p:txBody>
          <a:bodyPr/>
          <a:lstStyle/>
          <a:p>
            <a:r>
              <a:rPr lang="en-US" dirty="0" err="1"/>
              <a:t>EEprom</a:t>
            </a:r>
            <a:r>
              <a:rPr lang="en-US" dirty="0"/>
              <a:t> memory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2A3305-D4FA-4586-9996-D6366148BB1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689499"/>
            <a:ext cx="8228012" cy="393965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Small sizes (2KB to 64KB)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Size to price ratio is bad </a:t>
            </a:r>
            <a:r>
              <a:rPr lang="en-US" sz="1400" dirty="0">
                <a:sym typeface="Wingdings" panose="05000000000000000000" pitchFamily="2" charset="2"/>
              </a:rPr>
              <a:t>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ym typeface="Wingdings" panose="05000000000000000000" pitchFamily="2" charset="2"/>
              </a:rPr>
              <a:t>You can just write to any byte any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ym typeface="Wingdings" panose="05000000000000000000" pitchFamily="2" charset="2"/>
              </a:rPr>
              <a:t>Most common interface is I2C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ym typeface="Wingdings" panose="05000000000000000000" pitchFamily="2" charset="2"/>
              </a:rPr>
              <a:t>Very slow and mostly used for saving configuration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ESP32’s EEPROM is emulated on the main flash and is occupying one sector (4KB)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How to use: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 err="1"/>
              <a:t>EEPROM.begin</a:t>
            </a:r>
            <a:r>
              <a:rPr lang="en-US" dirty="0"/>
              <a:t>(512);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// Size up to 4096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 err="1"/>
              <a:t>EEPROM.write</a:t>
            </a:r>
            <a:r>
              <a:rPr lang="en-US" dirty="0"/>
              <a:t>(12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/*Address*/,</a:t>
            </a:r>
            <a:r>
              <a:rPr lang="en-US" dirty="0"/>
              <a:t>100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/*Data*/</a:t>
            </a:r>
            <a:r>
              <a:rPr lang="en-US" dirty="0"/>
              <a:t>);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 err="1"/>
              <a:t>EEPROM.commit</a:t>
            </a:r>
            <a:r>
              <a:rPr lang="en-US" dirty="0"/>
              <a:t>();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// Save the data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43701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DB328D-40F2-4326-8FF4-0A162E388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1698A3-A394-428B-8CBD-3E53D3182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77" y="110172"/>
            <a:ext cx="8229600" cy="365709"/>
          </a:xfrm>
        </p:spPr>
        <p:txBody>
          <a:bodyPr/>
          <a:lstStyle/>
          <a:p>
            <a:r>
              <a:rPr lang="en-US" sz="2400" dirty="0"/>
              <a:t>ESP32 Flash memory Partitions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2905A3-79CC-40F4-BEDC-EE56872B52E5}"/>
              </a:ext>
            </a:extLst>
          </p:cNvPr>
          <p:cNvSpPr/>
          <p:nvPr/>
        </p:nvSpPr>
        <p:spPr>
          <a:xfrm>
            <a:off x="455613" y="1645170"/>
            <a:ext cx="1954717" cy="95037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Application partition 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567001-EB11-47EF-978F-A5A894EC50B5}"/>
              </a:ext>
            </a:extLst>
          </p:cNvPr>
          <p:cNvSpPr/>
          <p:nvPr/>
        </p:nvSpPr>
        <p:spPr>
          <a:xfrm>
            <a:off x="455613" y="2595547"/>
            <a:ext cx="1954717" cy="950377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Application partition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E1156B-FA24-4821-AEA8-4C8EECD70864}"/>
              </a:ext>
            </a:extLst>
          </p:cNvPr>
          <p:cNvSpPr/>
          <p:nvPr/>
        </p:nvSpPr>
        <p:spPr>
          <a:xfrm>
            <a:off x="455613" y="3545925"/>
            <a:ext cx="1954717" cy="479684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SPIFFS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1EF68F-2A51-4F3F-84E9-81B46E66A79A}"/>
              </a:ext>
            </a:extLst>
          </p:cNvPr>
          <p:cNvSpPr txBox="1"/>
          <p:nvPr/>
        </p:nvSpPr>
        <p:spPr>
          <a:xfrm>
            <a:off x="2566228" y="2035719"/>
            <a:ext cx="953374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dirty="0">
                <a:solidFill>
                  <a:srgbClr val="003C71"/>
                </a:solidFill>
              </a:rPr>
              <a:t>1.2MB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4214E9-3627-4240-BC71-584D58DD9566}"/>
              </a:ext>
            </a:extLst>
          </p:cNvPr>
          <p:cNvSpPr txBox="1"/>
          <p:nvPr/>
        </p:nvSpPr>
        <p:spPr>
          <a:xfrm>
            <a:off x="2566228" y="2986096"/>
            <a:ext cx="953374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dirty="0">
                <a:solidFill>
                  <a:srgbClr val="003C71"/>
                </a:solidFill>
              </a:rPr>
              <a:t>1.2MB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763CD7-FEF2-4C51-B739-59B36D2B02BC}"/>
              </a:ext>
            </a:extLst>
          </p:cNvPr>
          <p:cNvSpPr txBox="1"/>
          <p:nvPr/>
        </p:nvSpPr>
        <p:spPr>
          <a:xfrm>
            <a:off x="2566228" y="3701128"/>
            <a:ext cx="953374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dirty="0">
                <a:solidFill>
                  <a:srgbClr val="003C71"/>
                </a:solidFill>
              </a:rPr>
              <a:t>1.5MB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B25B9B-2601-470C-AA61-E0BDC5580337}"/>
              </a:ext>
            </a:extLst>
          </p:cNvPr>
          <p:cNvSpPr txBox="1"/>
          <p:nvPr/>
        </p:nvSpPr>
        <p:spPr>
          <a:xfrm>
            <a:off x="455613" y="866431"/>
            <a:ext cx="2695319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C71"/>
                </a:solidFill>
              </a:rPr>
              <a:t>Partition table is flexible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C71"/>
                </a:solidFill>
              </a:rPr>
              <a:t>Can be set through visual micro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1FB6151-F18E-444E-A545-A5AD7004C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5697" y="308848"/>
            <a:ext cx="4439516" cy="439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061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070F73-4B56-4ADE-8126-4EDB3A82F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1C6F1DB-005B-4A01-886A-7787F8907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65709"/>
          </a:xfrm>
        </p:spPr>
        <p:txBody>
          <a:bodyPr/>
          <a:lstStyle/>
          <a:p>
            <a:r>
              <a:rPr lang="en-US" dirty="0"/>
              <a:t>SPIFFS – SPI flash system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55E2CB-43FE-48B1-BF67-853B391A11D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674557"/>
            <a:ext cx="8228012" cy="395459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Resides on the ESP32’s flash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 a data folder in the sketch folder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Upload it through visual micro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Files accessible in our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Look @ ESP32_SPIFFSdemo.ino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Copy the data folder into sketch folder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0CCE47-E1F7-4628-BC91-4B308D249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9157" y="253600"/>
            <a:ext cx="3459558" cy="19814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8F8B3C-80A8-4AC9-AC1C-54AF539BE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0481" y="2430303"/>
            <a:ext cx="4183519" cy="2063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525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91FD4E-32E9-4DCD-A91A-FB16170AB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1F9F7EB-71F0-4D33-AD05-69035DFAF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56715"/>
          </a:xfrm>
        </p:spPr>
        <p:txBody>
          <a:bodyPr/>
          <a:lstStyle/>
          <a:p>
            <a:r>
              <a:rPr lang="en-US" dirty="0"/>
              <a:t>SD Card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E1E945-DC71-4601-8600-AD5A570861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812467"/>
            <a:ext cx="8228012" cy="3963587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Our platform is equipped with a micro-SD card slot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Just format a micro-SD card as FAT32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Place your 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Insert the card into the platform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Look @ ESP32_SDcardDemo.ino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The pins setup is taken from the block diagram of our platform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808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D475D4-4C9C-47C9-94B3-558251F20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374E336-8613-43BE-B4D5-AF26B5C7D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68707"/>
          </a:xfrm>
        </p:spPr>
        <p:txBody>
          <a:bodyPr/>
          <a:lstStyle/>
          <a:p>
            <a:r>
              <a:rPr lang="en-US" dirty="0"/>
              <a:t>Coding our own driver – DRV8833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A64270-356B-41A6-A60A-2994AB65C41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734519"/>
            <a:ext cx="8228012" cy="3894632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Device data sheet / spec is needed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First, we need to understand what are the device features?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Second, we need to understand what protocol it uses?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Need to decide what type of driver is it going to be?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Simple initialization setup?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Interrupt driven?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Does it need an accessor? Complex but most flexible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Does it need a background process? </a:t>
            </a:r>
          </a:p>
        </p:txBody>
      </p:sp>
    </p:spTree>
    <p:extLst>
      <p:ext uri="{BB962C8B-B14F-4D97-AF65-F5344CB8AC3E}">
        <p14:creationId xmlns:p14="http://schemas.microsoft.com/office/powerpoint/2010/main" val="649644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F7B3CC-765C-4EA1-8FE3-E9818DC55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F9FAE79-C9EA-4E59-855C-8597B076A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56715"/>
          </a:xfrm>
        </p:spPr>
        <p:txBody>
          <a:bodyPr/>
          <a:lstStyle/>
          <a:p>
            <a:r>
              <a:rPr lang="en-US" dirty="0"/>
              <a:t>DRV8833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5D1257-282A-44BA-BEED-F5F99A1F8EE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1" y="950377"/>
            <a:ext cx="8228012" cy="393360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 DC motors drivers or 1 step motor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Gives control for direction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1.5-A RMS, 2-A Peak per H-Bridge in PWP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34184B-6FE4-4A86-B753-E5E84C651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5493" y="108496"/>
            <a:ext cx="3549150" cy="22599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92C535-5F77-4A43-B54B-C7BBACB6F7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959" y="2756162"/>
            <a:ext cx="3463926" cy="13029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E835FE-2D9E-4656-9A1D-7CFADC10C9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2138" y="2662348"/>
            <a:ext cx="4356141" cy="1490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602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56F11F-1EB0-4A6D-A2A2-3CFE85E99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B94123A-6FE7-4D27-9D28-AA73B35C7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25" y="111998"/>
            <a:ext cx="8229600" cy="357902"/>
          </a:xfrm>
        </p:spPr>
        <p:txBody>
          <a:bodyPr/>
          <a:lstStyle/>
          <a:p>
            <a:r>
              <a:rPr lang="en-US" dirty="0"/>
              <a:t>The speaker (buzzer)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D0B1D-0C34-4ABD-9C21-20EB9E7594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533401"/>
            <a:ext cx="8228012" cy="409575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Uses PWM channel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Has two functions: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One blocking: void </a:t>
            </a:r>
            <a:r>
              <a:rPr lang="en-US" sz="1400" b="1" dirty="0"/>
              <a:t>sound</a:t>
            </a:r>
            <a:r>
              <a:rPr lang="en-US" sz="1400" dirty="0"/>
              <a:t>(</a:t>
            </a:r>
            <a:r>
              <a:rPr lang="en-US" sz="1400" b="1" dirty="0"/>
              <a:t>unsigned short</a:t>
            </a:r>
            <a:r>
              <a:rPr lang="en-US" sz="1400" dirty="0"/>
              <a:t> </a:t>
            </a:r>
            <a:r>
              <a:rPr lang="en-US" sz="1400" dirty="0" err="1"/>
              <a:t>freq</a:t>
            </a:r>
            <a:r>
              <a:rPr lang="en-US" sz="1400" dirty="0"/>
              <a:t>, </a:t>
            </a:r>
            <a:r>
              <a:rPr lang="en-US" sz="1400" b="1" dirty="0"/>
              <a:t>unsigned short</a:t>
            </a:r>
            <a:r>
              <a:rPr lang="en-US" sz="1400" dirty="0"/>
              <a:t> </a:t>
            </a:r>
            <a:r>
              <a:rPr lang="en-US" sz="1400" dirty="0" err="1"/>
              <a:t>timeInMilliSec</a:t>
            </a:r>
            <a:r>
              <a:rPr lang="en-US" sz="1400" dirty="0"/>
              <a:t>);</a:t>
            </a:r>
          </a:p>
          <a:p>
            <a:pPr marL="8572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Will play sound of frequency for a period of time, when done will return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Second non blocking: void </a:t>
            </a:r>
            <a:r>
              <a:rPr lang="en-US" sz="1400" b="1" dirty="0"/>
              <a:t>sound</a:t>
            </a:r>
            <a:r>
              <a:rPr lang="en-US" sz="1400" dirty="0"/>
              <a:t>(</a:t>
            </a:r>
            <a:r>
              <a:rPr lang="en-US" sz="1400" b="1" dirty="0"/>
              <a:t>unsigned short</a:t>
            </a:r>
            <a:r>
              <a:rPr lang="en-US" sz="1400" dirty="0"/>
              <a:t> </a:t>
            </a:r>
            <a:r>
              <a:rPr lang="en-US" sz="1400" dirty="0" err="1"/>
              <a:t>freq</a:t>
            </a:r>
            <a:r>
              <a:rPr lang="en-US" sz="1400" dirty="0"/>
              <a:t>);</a:t>
            </a:r>
          </a:p>
          <a:p>
            <a:pPr marL="8572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Will trigger the speaker to generate sound at specified frequency and return immediately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Call: </a:t>
            </a:r>
            <a:r>
              <a:rPr lang="en-US" sz="1400" b="1" dirty="0" err="1"/>
              <a:t>soundOff</a:t>
            </a:r>
            <a:r>
              <a:rPr lang="en-US" sz="1400" dirty="0"/>
              <a:t>(); to shut off the speaker</a:t>
            </a:r>
          </a:p>
        </p:txBody>
      </p:sp>
    </p:spTree>
    <p:extLst>
      <p:ext uri="{BB962C8B-B14F-4D97-AF65-F5344CB8AC3E}">
        <p14:creationId xmlns:p14="http://schemas.microsoft.com/office/powerpoint/2010/main" val="2179871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4152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Int_PPT Template_ClearPro_16x9">
  <a:themeElements>
    <a:clrScheme name="Intel Color Palette">
      <a:dk1>
        <a:sysClr val="windowText" lastClr="000000"/>
      </a:dk1>
      <a:lt1>
        <a:sysClr val="window" lastClr="FFFFFF"/>
      </a:lt1>
      <a:dk2>
        <a:srgbClr val="003C71"/>
      </a:dk2>
      <a:lt2>
        <a:srgbClr val="B1BABF"/>
      </a:lt2>
      <a:accent1>
        <a:srgbClr val="0071C5"/>
      </a:accent1>
      <a:accent2>
        <a:srgbClr val="00AEEF"/>
      </a:accent2>
      <a:accent3>
        <a:srgbClr val="F3D54E"/>
      </a:accent3>
      <a:accent4>
        <a:srgbClr val="FFA300"/>
      </a:accent4>
      <a:accent5>
        <a:srgbClr val="FC4C02"/>
      </a:accent5>
      <a:accent6>
        <a:srgbClr val="C3D600"/>
      </a:accent6>
      <a:hlink>
        <a:srgbClr val="0071C5"/>
      </a:hlink>
      <a:folHlink>
        <a:srgbClr val="00AEEF"/>
      </a:folHlink>
    </a:clrScheme>
    <a:fontScheme name="Intel Clear">
      <a:majorFont>
        <a:latin typeface="Intel Clear"/>
        <a:ea typeface=""/>
        <a:cs typeface=""/>
      </a:majorFont>
      <a:minorFont>
        <a:latin typeface="Intel Cle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0" tIns="0" rIns="0" bIns="0" rtlCol="0">
        <a:spAutoFit/>
      </a:bodyPr>
      <a:lstStyle>
        <a:defPPr>
          <a:defRPr sz="1100" dirty="0" err="1" smtClean="0">
            <a:solidFill>
              <a:srgbClr val="003C7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5040-14_HPC_2H18_PPT_v0.2.pptx" id="{7470C74A-D7C8-47AC-A1D4-415D12B61414}" vid="{497F966E-8469-4AF9-BF35-3D3A7641C986}"/>
    </a:ext>
  </a:extLst>
</a:theme>
</file>

<file path=ppt/theme/theme2.xml><?xml version="1.0" encoding="utf-8"?>
<a:theme xmlns:a="http://schemas.openxmlformats.org/drawingml/2006/main" name="1_Int_PPT Template_ClearPro_16x9">
  <a:themeElements>
    <a:clrScheme name="Intel Color Palette">
      <a:dk1>
        <a:sysClr val="windowText" lastClr="000000"/>
      </a:dk1>
      <a:lt1>
        <a:sysClr val="window" lastClr="FFFFFF"/>
      </a:lt1>
      <a:dk2>
        <a:srgbClr val="003C71"/>
      </a:dk2>
      <a:lt2>
        <a:srgbClr val="B1BABF"/>
      </a:lt2>
      <a:accent1>
        <a:srgbClr val="0071C5"/>
      </a:accent1>
      <a:accent2>
        <a:srgbClr val="00AEEF"/>
      </a:accent2>
      <a:accent3>
        <a:srgbClr val="F3D54E"/>
      </a:accent3>
      <a:accent4>
        <a:srgbClr val="FFA300"/>
      </a:accent4>
      <a:accent5>
        <a:srgbClr val="FC4C02"/>
      </a:accent5>
      <a:accent6>
        <a:srgbClr val="C3D600"/>
      </a:accent6>
      <a:hlink>
        <a:srgbClr val="0071C5"/>
      </a:hlink>
      <a:folHlink>
        <a:srgbClr val="00AEEF"/>
      </a:folHlink>
    </a:clrScheme>
    <a:fontScheme name="Intel Clear">
      <a:majorFont>
        <a:latin typeface="Intel Clear"/>
        <a:ea typeface=""/>
        <a:cs typeface=""/>
      </a:majorFont>
      <a:minorFont>
        <a:latin typeface="Intel Cle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0" tIns="0" rIns="0" bIns="0" rtlCol="0">
        <a:spAutoFit/>
      </a:bodyPr>
      <a:lstStyle>
        <a:defPPr>
          <a:defRPr sz="1100" dirty="0" err="1" smtClean="0">
            <a:solidFill>
              <a:srgbClr val="003C7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5040-14_HPC_2H18_PPT_v0.2.pptx" id="{7470C74A-D7C8-47AC-A1D4-415D12B61414}" vid="{E2EF9F45-09E2-46BE-BF2F-0219EF15023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2h2018-hpc-event-playbook-powerpoint-template</Template>
  <TotalTime>0</TotalTime>
  <Words>2608</Words>
  <Application>Microsoft Office PowerPoint</Application>
  <PresentationFormat>On-screen Show (16:9)</PresentationFormat>
  <Paragraphs>419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Consolas</vt:lpstr>
      <vt:lpstr>Intel Clear</vt:lpstr>
      <vt:lpstr>Intel Clear Pro</vt:lpstr>
      <vt:lpstr>Wingdings</vt:lpstr>
      <vt:lpstr>Int_PPT Template_ClearPro_16x9</vt:lpstr>
      <vt:lpstr>1_Int_PPT Template_ClearPro_16x9</vt:lpstr>
      <vt:lpstr>Intel Maker’s ESP32 course –  by intel’s makers community class 2</vt:lpstr>
      <vt:lpstr>PowerPoint Presentation</vt:lpstr>
      <vt:lpstr>Class 2 agenda:</vt:lpstr>
      <vt:lpstr>PowerPoint Presentation</vt:lpstr>
      <vt:lpstr>I/O and the different types</vt:lpstr>
      <vt:lpstr>I/O and the different types</vt:lpstr>
      <vt:lpstr>Usage for i/os</vt:lpstr>
      <vt:lpstr>I/O matrix and device mapping</vt:lpstr>
      <vt:lpstr>Before connecting a device…</vt:lpstr>
      <vt:lpstr>Mapping the LCD of our platform</vt:lpstr>
      <vt:lpstr>PowerPoint Presentation</vt:lpstr>
      <vt:lpstr>Device driver</vt:lpstr>
      <vt:lpstr>Getting started with a driver</vt:lpstr>
      <vt:lpstr>HAL \ API</vt:lpstr>
      <vt:lpstr>Our LCD driver as an example - Setup</vt:lpstr>
      <vt:lpstr>Basic graphics controller</vt:lpstr>
      <vt:lpstr>Animation basics…</vt:lpstr>
      <vt:lpstr>Few main technics</vt:lpstr>
      <vt:lpstr>Our LCD – ST7789 based</vt:lpstr>
      <vt:lpstr>ESP32 and the LCD\TV out block diagram</vt:lpstr>
      <vt:lpstr>TV Out – Uses DAC25 and I2S0</vt:lpstr>
      <vt:lpstr>Generating bitmaps and using them in our code</vt:lpstr>
      <vt:lpstr>Interrupt driven driver – Led Matrix</vt:lpstr>
      <vt:lpstr>Accessor based driver</vt:lpstr>
      <vt:lpstr>Flash memory</vt:lpstr>
      <vt:lpstr>EEprom memory</vt:lpstr>
      <vt:lpstr>ESP32 Flash memory Partitions</vt:lpstr>
      <vt:lpstr>SPIFFS – SPI flash system</vt:lpstr>
      <vt:lpstr>SD Card</vt:lpstr>
      <vt:lpstr>Coding our own driver – DRV8833</vt:lpstr>
      <vt:lpstr>DRV8833</vt:lpstr>
      <vt:lpstr>The speaker (buzzer)</vt:lpstr>
      <vt:lpstr>PowerPoint Presentation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>CTPClassification=CTP_NT</cp:keywords>
  <cp:lastModifiedBy/>
  <cp:revision>1</cp:revision>
  <dcterms:created xsi:type="dcterms:W3CDTF">2019-01-09T10:17:12Z</dcterms:created>
  <dcterms:modified xsi:type="dcterms:W3CDTF">2024-08-07T14:38:41Z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8fe81c37-8eff-4c5b-bc02-9bf0e84d8565</vt:lpwstr>
  </property>
  <property fmtid="{D5CDD505-2E9C-101B-9397-08002B2CF9AE}" pid="3" name="CTP_TimeStamp">
    <vt:lpwstr>2020-01-21 12:24:28Z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