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  <p:sldMasterId id="2147483691" r:id="rId2"/>
  </p:sldMasterIdLst>
  <p:notesMasterIdLst>
    <p:notesMasterId r:id="rId37"/>
  </p:notesMasterIdLst>
  <p:handoutMasterIdLst>
    <p:handoutMasterId r:id="rId38"/>
  </p:handoutMasterIdLst>
  <p:sldIdLst>
    <p:sldId id="318" r:id="rId3"/>
    <p:sldId id="321" r:id="rId4"/>
    <p:sldId id="349" r:id="rId5"/>
    <p:sldId id="350" r:id="rId6"/>
    <p:sldId id="373" r:id="rId7"/>
    <p:sldId id="374" r:id="rId8"/>
    <p:sldId id="379" r:id="rId9"/>
    <p:sldId id="328" r:id="rId10"/>
    <p:sldId id="329" r:id="rId11"/>
    <p:sldId id="330" r:id="rId12"/>
    <p:sldId id="376" r:id="rId13"/>
    <p:sldId id="352" r:id="rId14"/>
    <p:sldId id="378" r:id="rId15"/>
    <p:sldId id="354" r:id="rId16"/>
    <p:sldId id="339" r:id="rId17"/>
    <p:sldId id="333" r:id="rId18"/>
    <p:sldId id="335" r:id="rId19"/>
    <p:sldId id="336" r:id="rId20"/>
    <p:sldId id="341" r:id="rId21"/>
    <p:sldId id="365" r:id="rId22"/>
    <p:sldId id="366" r:id="rId23"/>
    <p:sldId id="370" r:id="rId24"/>
    <p:sldId id="380" r:id="rId25"/>
    <p:sldId id="353" r:id="rId26"/>
    <p:sldId id="367" r:id="rId27"/>
    <p:sldId id="368" r:id="rId28"/>
    <p:sldId id="369" r:id="rId29"/>
    <p:sldId id="371" r:id="rId30"/>
    <p:sldId id="377" r:id="rId31"/>
    <p:sldId id="334" r:id="rId32"/>
    <p:sldId id="375" r:id="rId33"/>
    <p:sldId id="337" r:id="rId34"/>
    <p:sldId id="338" r:id="rId35"/>
    <p:sldId id="294" r:id="rId3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1620" userDrawn="1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1C5"/>
    <a:srgbClr val="F83308"/>
    <a:srgbClr val="FD9208"/>
    <a:srgbClr val="009FDF"/>
    <a:srgbClr val="F3D54E"/>
    <a:srgbClr val="F0CE3E"/>
    <a:srgbClr val="003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4" autoAdjust="0"/>
    <p:restoredTop sz="94634" autoAdjust="0"/>
  </p:normalViewPr>
  <p:slideViewPr>
    <p:cSldViewPr snapToGrid="0">
      <p:cViewPr varScale="1">
        <p:scale>
          <a:sx n="128" d="100"/>
          <a:sy n="128" d="100"/>
        </p:scale>
        <p:origin x="1972" y="68"/>
      </p:cViewPr>
      <p:guideLst>
        <p:guide orient="horz" pos="1620"/>
        <p:guide pos="5470"/>
        <p:guide pos="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howGuides="1">
      <p:cViewPr varScale="1">
        <p:scale>
          <a:sx n="63" d="100"/>
          <a:sy n="63" d="100"/>
        </p:scale>
        <p:origin x="2285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ommentAuthors" Target="commentAuthor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8/4/2024</a:t>
            </a:fld>
            <a:endParaRPr lang="en-US" dirty="0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8/4/2024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1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34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8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8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891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6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8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9004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15385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20103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400125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384376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6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3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27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25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3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8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402950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318608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49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65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8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75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7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12661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5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287575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415824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0983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107094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238458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5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88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01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6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BF46A5-D99E-714B-96C7-B8EACE0125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06F2D-A48C-414B-96E9-DB0F3CD67C4D}"/>
              </a:ext>
            </a:extLst>
          </p:cNvPr>
          <p:cNvSpPr txBox="1"/>
          <p:nvPr userDrawn="1"/>
        </p:nvSpPr>
        <p:spPr>
          <a:xfrm>
            <a:off x="455613" y="4809976"/>
            <a:ext cx="1263166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Scale Your Innovation</a:t>
            </a:r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14" r:id="rId3"/>
    <p:sldLayoutId id="2147483715" r:id="rId4"/>
    <p:sldLayoutId id="2147483674" r:id="rId5"/>
    <p:sldLayoutId id="2147483650" r:id="rId6"/>
    <p:sldLayoutId id="2147483684" r:id="rId7"/>
    <p:sldLayoutId id="2147483652" r:id="rId8"/>
    <p:sldLayoutId id="2147483660" r:id="rId9"/>
    <p:sldLayoutId id="2147483668" r:id="rId10"/>
    <p:sldLayoutId id="2147483669" r:id="rId11"/>
    <p:sldLayoutId id="2147483670" r:id="rId12"/>
    <p:sldLayoutId id="2147483672" r:id="rId13"/>
    <p:sldLayoutId id="2147483690" r:id="rId14"/>
    <p:sldLayoutId id="2147483689" r:id="rId15"/>
    <p:sldLayoutId id="2147483651" r:id="rId16"/>
    <p:sldLayoutId id="2147483677" r:id="rId17"/>
    <p:sldLayoutId id="2147483665" r:id="rId18"/>
    <p:sldLayoutId id="2147483654" r:id="rId19"/>
    <p:sldLayoutId id="2147483655" r:id="rId20"/>
    <p:sldLayoutId id="2147483676" r:id="rId21"/>
    <p:sldLayoutId id="2147483681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1CEF42-63D0-6F46-A408-1623CB42B5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B9911-7C11-FF44-91CB-947A6460653E}"/>
              </a:ext>
            </a:extLst>
          </p:cNvPr>
          <p:cNvSpPr txBox="1"/>
          <p:nvPr userDrawn="1"/>
        </p:nvSpPr>
        <p:spPr>
          <a:xfrm>
            <a:off x="455613" y="4809976"/>
            <a:ext cx="2678618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One Platform for the Intersection of AI and HPC</a:t>
            </a:r>
          </a:p>
        </p:txBody>
      </p:sp>
    </p:spTree>
    <p:extLst>
      <p:ext uri="{BB962C8B-B14F-4D97-AF65-F5344CB8AC3E}">
        <p14:creationId xmlns:p14="http://schemas.microsoft.com/office/powerpoint/2010/main" val="243693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716" r:id="rId3"/>
    <p:sldLayoutId id="2147483717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AF33-66AC-4A4D-911B-84C4FCD6B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3270" y="3295545"/>
            <a:ext cx="8212886" cy="1102519"/>
          </a:xfrm>
        </p:spPr>
        <p:txBody>
          <a:bodyPr/>
          <a:lstStyle/>
          <a:p>
            <a:r>
              <a:rPr lang="en-US" dirty="0"/>
              <a:t>ESP32 Based Arduino Course </a:t>
            </a:r>
            <a:br>
              <a:rPr lang="en-US" dirty="0"/>
            </a:br>
            <a:r>
              <a:rPr lang="en-US" dirty="0"/>
              <a:t>by intel’s makers community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84B77-B6A3-E84D-97B0-DCAFA66C4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Gil Tal.</a:t>
            </a:r>
          </a:p>
          <a:p>
            <a:r>
              <a:rPr lang="en-US" dirty="0"/>
              <a:t>May 2020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2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56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lash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447"/>
          </a:xfrm>
        </p:spPr>
        <p:txBody>
          <a:bodyPr/>
          <a:lstStyle/>
          <a:p>
            <a:r>
              <a:rPr lang="en-US" dirty="0"/>
              <a:t>Expectations: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EC5FC-28FF-4A46-99C9-D7F63D2F3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1587"/>
            <a:ext cx="8228012" cy="4275863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Be familiar with C\C++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Work is under Visual Studio (free) + a paid plug in you must purchase (19$, free for 30 days)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0835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447"/>
          </a:xfrm>
        </p:spPr>
        <p:txBody>
          <a:bodyPr/>
          <a:lstStyle/>
          <a:p>
            <a:r>
              <a:rPr lang="en-US" dirty="0"/>
              <a:t>targets: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EC5FC-28FF-4A46-99C9-D7F63D2F3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1587"/>
            <a:ext cx="8228012" cy="4275863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To take us a step 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To expose us to new opportunities \ possibilities \capabilities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To enable us to execute small to medium projects – end to end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To train us as instructors to run similar courses at schools\universities – to better expose Intel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To grow this new thing, we are starting </a:t>
            </a:r>
          </a:p>
        </p:txBody>
      </p:sp>
    </p:spTree>
    <p:extLst>
      <p:ext uri="{BB962C8B-B14F-4D97-AF65-F5344CB8AC3E}">
        <p14:creationId xmlns:p14="http://schemas.microsoft.com/office/powerpoint/2010/main" val="259046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447"/>
          </a:xfrm>
        </p:spPr>
        <p:txBody>
          <a:bodyPr/>
          <a:lstStyle/>
          <a:p>
            <a:r>
              <a:rPr lang="en-US" dirty="0"/>
              <a:t>agenda: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EC5FC-28FF-4A46-99C9-D7F63D2F3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1587"/>
            <a:ext cx="8228012" cy="427586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complete course topics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a micro controller?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ESP32 micro 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can I do with a micro controller?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communication protocols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ESP32 course platform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Available accessories/peripherals/devices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first project</a:t>
            </a:r>
          </a:p>
        </p:txBody>
      </p:sp>
    </p:spTree>
    <p:extLst>
      <p:ext uri="{BB962C8B-B14F-4D97-AF65-F5344CB8AC3E}">
        <p14:creationId xmlns:p14="http://schemas.microsoft.com/office/powerpoint/2010/main" val="242263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447"/>
          </a:xfrm>
        </p:spPr>
        <p:txBody>
          <a:bodyPr/>
          <a:lstStyle/>
          <a:p>
            <a:r>
              <a:rPr lang="en-US" dirty="0"/>
              <a:t>Course agenda: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EC5FC-28FF-4A46-99C9-D7F63D2F3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1587"/>
            <a:ext cx="8228012" cy="4275863"/>
          </a:xfrm>
        </p:spPr>
        <p:txBody>
          <a:bodyPr/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I\</a:t>
            </a:r>
            <a:r>
              <a:rPr lang="en-US" sz="1200" dirty="0" err="1"/>
              <a:t>Os</a:t>
            </a:r>
            <a:r>
              <a:rPr lang="en-US" sz="1200" dirty="0"/>
              <a:t> and mappings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Device drivers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Graphics fundamentals </a:t>
            </a:r>
          </a:p>
          <a:p>
            <a:pPr marL="5111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Our LCD</a:t>
            </a:r>
          </a:p>
          <a:p>
            <a:pPr marL="5111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TV out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C++ (in a nutshell)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IOT</a:t>
            </a:r>
          </a:p>
          <a:p>
            <a:pPr marL="5111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FAT32 file system</a:t>
            </a:r>
          </a:p>
          <a:p>
            <a:pPr marL="5111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Wi-Fi and Bluetooth </a:t>
            </a:r>
          </a:p>
          <a:p>
            <a:pPr marL="5111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Webpage</a:t>
            </a:r>
          </a:p>
          <a:p>
            <a:pPr marL="5111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MQTT</a:t>
            </a:r>
          </a:p>
          <a:p>
            <a:pPr marL="5111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OTA (Over the air update)</a:t>
            </a:r>
          </a:p>
          <a:p>
            <a:pPr marL="5111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Advanced network services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Advanced topics</a:t>
            </a:r>
          </a:p>
          <a:p>
            <a:pPr marL="5111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Multi CPU</a:t>
            </a:r>
          </a:p>
          <a:p>
            <a:pPr marL="5111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Interrupts</a:t>
            </a:r>
          </a:p>
          <a:p>
            <a:pPr marL="5111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CPU power saving modes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Board design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Your own project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6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0F0F97-DD9D-471A-B80F-6C176149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53206B-6867-470A-971E-CD38980A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65855"/>
          </a:xfrm>
        </p:spPr>
        <p:txBody>
          <a:bodyPr/>
          <a:lstStyle/>
          <a:p>
            <a:r>
              <a:rPr lang="en-US" dirty="0"/>
              <a:t>PC\laptop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20C81-3149-4217-A355-7CDF2C990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088" y="375830"/>
            <a:ext cx="5589500" cy="429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6783"/>
          </a:xfrm>
        </p:spPr>
        <p:txBody>
          <a:bodyPr/>
          <a:lstStyle/>
          <a:p>
            <a:r>
              <a:rPr lang="en-US" dirty="0"/>
              <a:t>What is a micro controller?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3" y="908557"/>
            <a:ext cx="8228012" cy="3720594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Basically, it is a system on a chip – meaning …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It has almost all we need to run a computing system in a single chip: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CPU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Dynamic memory (DRAM on our PC)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Nonvolatile memory (HDD\SSD on our PC)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Communication ports (Keyboard\Mouse on our PC)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I/O ports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The rest depends on the complexity of the micro controller</a:t>
            </a:r>
          </a:p>
        </p:txBody>
      </p:sp>
    </p:spTree>
    <p:extLst>
      <p:ext uri="{BB962C8B-B14F-4D97-AF65-F5344CB8AC3E}">
        <p14:creationId xmlns:p14="http://schemas.microsoft.com/office/powerpoint/2010/main" val="73498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39883"/>
            <a:ext cx="8229600" cy="348468"/>
          </a:xfrm>
        </p:spPr>
        <p:txBody>
          <a:bodyPr/>
          <a:lstStyle/>
          <a:p>
            <a:pPr algn="ctr"/>
            <a:r>
              <a:rPr lang="en-US" dirty="0"/>
              <a:t>General Block diagram</a:t>
            </a:r>
          </a:p>
        </p:txBody>
      </p:sp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043" y="657316"/>
            <a:ext cx="556260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4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179639"/>
            <a:ext cx="8229600" cy="380604"/>
          </a:xfrm>
        </p:spPr>
        <p:txBody>
          <a:bodyPr/>
          <a:lstStyle/>
          <a:p>
            <a:pPr algn="ctr"/>
            <a:r>
              <a:rPr lang="en-US" dirty="0"/>
              <a:t>ESP32 block diagram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234" y="689452"/>
            <a:ext cx="4484358" cy="397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1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20BBBC-34D4-4E57-8A09-4374E2BEE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1B7E7B-AAF3-47E7-AA7B-FC9A59447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9694"/>
          </a:xfrm>
        </p:spPr>
        <p:txBody>
          <a:bodyPr/>
          <a:lstStyle/>
          <a:p>
            <a:r>
              <a:rPr lang="en-US" dirty="0"/>
              <a:t>Communication ports are meant for: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62AD2-898A-4009-B109-2E81FD9D90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2527"/>
            <a:ext cx="8228012" cy="390662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Expanding the capabilities of our MC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Connection for various devices available on the market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A830ED-65E7-4CBD-BC36-2FF1CF351D62}"/>
              </a:ext>
            </a:extLst>
          </p:cNvPr>
          <p:cNvSpPr/>
          <p:nvPr/>
        </p:nvSpPr>
        <p:spPr>
          <a:xfrm>
            <a:off x="4138393" y="1547174"/>
            <a:ext cx="1708879" cy="160694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Micro</a:t>
            </a:r>
          </a:p>
          <a:p>
            <a:pPr algn="ctr"/>
            <a:r>
              <a:rPr lang="en-US" dirty="0"/>
              <a:t>Controller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D8D187-901D-4B56-9A91-51D333A4C07B}"/>
              </a:ext>
            </a:extLst>
          </p:cNvPr>
          <p:cNvSpPr/>
          <p:nvPr/>
        </p:nvSpPr>
        <p:spPr>
          <a:xfrm>
            <a:off x="6732132" y="1537204"/>
            <a:ext cx="1053170" cy="75550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3G modem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5E3E2C-8D35-4ECB-B661-65A0AA4E9E0E}"/>
              </a:ext>
            </a:extLst>
          </p:cNvPr>
          <p:cNvSpPr/>
          <p:nvPr/>
        </p:nvSpPr>
        <p:spPr>
          <a:xfrm>
            <a:off x="2182815" y="1547174"/>
            <a:ext cx="1053170" cy="75550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LCD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C224A0-3390-4FC4-A991-FBFD4DBC812C}"/>
              </a:ext>
            </a:extLst>
          </p:cNvPr>
          <p:cNvSpPr/>
          <p:nvPr/>
        </p:nvSpPr>
        <p:spPr>
          <a:xfrm>
            <a:off x="4460251" y="3897631"/>
            <a:ext cx="1053170" cy="75550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SD Card</a:t>
            </a:r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6E10B868-0950-486A-8A15-71F0051C3C43}"/>
              </a:ext>
            </a:extLst>
          </p:cNvPr>
          <p:cNvSpPr/>
          <p:nvPr/>
        </p:nvSpPr>
        <p:spPr>
          <a:xfrm>
            <a:off x="3253533" y="1810026"/>
            <a:ext cx="867312" cy="229799"/>
          </a:xfrm>
          <a:prstGeom prst="left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SPI/GPIO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F2FBE061-4D38-47F1-8CC5-31ED11BDE53C}"/>
              </a:ext>
            </a:extLst>
          </p:cNvPr>
          <p:cNvSpPr/>
          <p:nvPr/>
        </p:nvSpPr>
        <p:spPr>
          <a:xfrm>
            <a:off x="5847272" y="1800058"/>
            <a:ext cx="867312" cy="229799"/>
          </a:xfrm>
          <a:prstGeom prst="left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UART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6021B773-4816-4DF4-84F8-8FF4400CF8FA}"/>
              </a:ext>
            </a:extLst>
          </p:cNvPr>
          <p:cNvSpPr/>
          <p:nvPr/>
        </p:nvSpPr>
        <p:spPr>
          <a:xfrm rot="5400000">
            <a:off x="4633067" y="3422969"/>
            <a:ext cx="719527" cy="229799"/>
          </a:xfrm>
          <a:prstGeom prst="left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06AF2-C5B1-0533-AEDF-C89ECD4A12ED}"/>
              </a:ext>
            </a:extLst>
          </p:cNvPr>
          <p:cNvSpPr/>
          <p:nvPr/>
        </p:nvSpPr>
        <p:spPr>
          <a:xfrm>
            <a:off x="6732132" y="2545593"/>
            <a:ext cx="1053170" cy="75550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RTC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Clock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7C217DF8-6323-AF78-9967-E84960F17B36}"/>
              </a:ext>
            </a:extLst>
          </p:cNvPr>
          <p:cNvSpPr/>
          <p:nvPr/>
        </p:nvSpPr>
        <p:spPr>
          <a:xfrm>
            <a:off x="5856046" y="2808445"/>
            <a:ext cx="867312" cy="229799"/>
          </a:xfrm>
          <a:prstGeom prst="left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I2C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E17BC7-5FE3-7DB9-5954-C8AD77F7F572}"/>
              </a:ext>
            </a:extLst>
          </p:cNvPr>
          <p:cNvSpPr/>
          <p:nvPr/>
        </p:nvSpPr>
        <p:spPr>
          <a:xfrm>
            <a:off x="1122758" y="3563950"/>
            <a:ext cx="2470237" cy="10891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Another Micro 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Phone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00E193F1-F899-8CB5-FE13-2F894749482E}"/>
              </a:ext>
            </a:extLst>
          </p:cNvPr>
          <p:cNvSpPr/>
          <p:nvPr/>
        </p:nvSpPr>
        <p:spPr>
          <a:xfrm rot="19192071">
            <a:off x="2709537" y="2891683"/>
            <a:ext cx="1542175" cy="229799"/>
          </a:xfrm>
          <a:prstGeom prst="left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WiFi</a:t>
            </a:r>
            <a:r>
              <a:rPr lang="en-US" sz="900" dirty="0"/>
              <a:t>\BLE\LoRa</a:t>
            </a:r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2BE85A6D-3394-8024-7FC7-913CBDEE4B4B}"/>
              </a:ext>
            </a:extLst>
          </p:cNvPr>
          <p:cNvSpPr/>
          <p:nvPr/>
        </p:nvSpPr>
        <p:spPr>
          <a:xfrm>
            <a:off x="2543990" y="2648697"/>
            <a:ext cx="1521740" cy="688285"/>
          </a:xfrm>
          <a:prstGeom prst="cloud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Wi-Fi\BLE\LoRa</a:t>
            </a:r>
          </a:p>
        </p:txBody>
      </p:sp>
    </p:spTree>
    <p:extLst>
      <p:ext uri="{BB962C8B-B14F-4D97-AF65-F5344CB8AC3E}">
        <p14:creationId xmlns:p14="http://schemas.microsoft.com/office/powerpoint/2010/main" val="370193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EE2556C5-CE8C-6547-B838-EA80C61A4AF7}" type="slidenum">
              <a:rPr lang="en-US">
                <a:solidFill>
                  <a:prstClr val="white"/>
                </a:solidFill>
                <a:latin typeface="Intel Clear"/>
              </a:rPr>
              <a:pPr defTabSz="685800"/>
              <a:t>12</a:t>
            </a:fld>
            <a:endParaRPr lang="en-US" dirty="0">
              <a:solidFill>
                <a:prstClr val="white"/>
              </a:solidFill>
              <a:latin typeface="Intel Clea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9"/>
            <a:ext cx="8229600" cy="336783"/>
          </a:xfrm>
        </p:spPr>
        <p:txBody>
          <a:bodyPr/>
          <a:lstStyle/>
          <a:p>
            <a:r>
              <a:rPr lang="en-US" sz="3600" dirty="0"/>
              <a:t>More about the ESP32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4" y="715744"/>
            <a:ext cx="8228012" cy="3913407"/>
          </a:xfrm>
        </p:spPr>
        <p:txBody>
          <a:bodyPr/>
          <a:lstStyle/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Runs under Arduino’s IDE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Dual 32 bit CPU cores @ 240MHz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Support true multi threading with bounding to specific CPU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512KB of SRAM (extra 8MB through SPI device)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4/16MB of flash memory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EEPROM (4KB)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Full power management control - Deep sleep etc.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CPU 64-bit counter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Native OTA (</a:t>
            </a:r>
            <a:r>
              <a:rPr lang="en-US" sz="1400" b="1" dirty="0"/>
              <a:t>O</a:t>
            </a:r>
            <a:r>
              <a:rPr lang="en-US" sz="1400" dirty="0"/>
              <a:t>ver the </a:t>
            </a:r>
            <a:r>
              <a:rPr lang="en-US" sz="1400" b="1" dirty="0"/>
              <a:t>A</a:t>
            </a:r>
            <a:r>
              <a:rPr lang="en-US" sz="1400" dirty="0"/>
              <a:t>ir </a:t>
            </a:r>
            <a:r>
              <a:rPr lang="en-US" sz="1400" b="1" dirty="0"/>
              <a:t>U</a:t>
            </a:r>
            <a:r>
              <a:rPr lang="en-US" sz="1400" dirty="0"/>
              <a:t>pdate)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Native file system (SPIFFS) with very easy way to upload an image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Running </a:t>
            </a:r>
            <a:r>
              <a:rPr lang="en-US" sz="1400" b="1" dirty="0" err="1"/>
              <a:t>FreeRTOS</a:t>
            </a:r>
            <a:r>
              <a:rPr lang="en-US" sz="1400" dirty="0"/>
              <a:t> operating system which can be utilized or ignored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Many external interfaces equipped with DMA for accelerated data transfer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Wi-Fi and Bluetooth (BLE) easily accessible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Ultra low power co-processor for extreme power management control</a:t>
            </a:r>
          </a:p>
        </p:txBody>
      </p:sp>
    </p:spTree>
    <p:extLst>
      <p:ext uri="{BB962C8B-B14F-4D97-AF65-F5344CB8AC3E}">
        <p14:creationId xmlns:p14="http://schemas.microsoft.com/office/powerpoint/2010/main" val="40306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EE2556C5-CE8C-6547-B838-EA80C61A4AF7}" type="slidenum">
              <a:rPr lang="en-US">
                <a:solidFill>
                  <a:prstClr val="white"/>
                </a:solidFill>
                <a:latin typeface="Intel Clear"/>
              </a:rPr>
              <a:pPr defTabSz="685800"/>
              <a:t>13</a:t>
            </a:fld>
            <a:endParaRPr lang="en-US" dirty="0">
              <a:solidFill>
                <a:prstClr val="white"/>
              </a:solidFill>
              <a:latin typeface="Intel Clea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9"/>
            <a:ext cx="8229600" cy="336783"/>
          </a:xfrm>
        </p:spPr>
        <p:txBody>
          <a:bodyPr/>
          <a:lstStyle/>
          <a:p>
            <a:r>
              <a:rPr lang="en-US" sz="3600" dirty="0"/>
              <a:t>More about the esp32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4" y="715744"/>
            <a:ext cx="8228012" cy="3913407"/>
          </a:xfrm>
        </p:spPr>
        <p:txBody>
          <a:bodyPr/>
          <a:lstStyle/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Has touch sensors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Native PWM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Two DAC (Digital to analog)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Many ADC (Analog to digital)</a:t>
            </a:r>
          </a:p>
          <a:p>
            <a:pPr marL="171446" indent="-171446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4590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BFE5E8-3658-4A03-A46B-F89A23DC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EE2556C5-CE8C-6547-B838-EA80C61A4AF7}" type="slidenum">
              <a:rPr lang="en-US">
                <a:solidFill>
                  <a:prstClr val="white"/>
                </a:solidFill>
                <a:latin typeface="Intel Clear"/>
              </a:rPr>
              <a:pPr defTabSz="685800"/>
              <a:t>14</a:t>
            </a:fld>
            <a:endParaRPr lang="en-US" dirty="0">
              <a:solidFill>
                <a:prstClr val="white"/>
              </a:solidFill>
              <a:latin typeface="Intel Clear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3AD3E6-8E43-4A76-9005-A6AD5A3A5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0989"/>
          </a:xfrm>
        </p:spPr>
        <p:txBody>
          <a:bodyPr/>
          <a:lstStyle/>
          <a:p>
            <a:r>
              <a:rPr lang="en-US" dirty="0"/>
              <a:t>Some ESP32 projects…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B2CEED-D7B2-4BC2-90A2-BAF57FD5C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49909"/>
            <a:ext cx="2228243" cy="35415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320E61-25D9-4415-8675-DEDBF1FB4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853" y="749997"/>
            <a:ext cx="1894956" cy="16173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773CCB-EA42-4DBE-8AA1-278A06C92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766" y="352751"/>
            <a:ext cx="2290880" cy="20146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EA5A8F-7288-4241-BF6F-F37D61A5C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520" y="2486466"/>
            <a:ext cx="4150432" cy="221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3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6783"/>
          </a:xfrm>
        </p:spPr>
        <p:txBody>
          <a:bodyPr/>
          <a:lstStyle/>
          <a:p>
            <a:r>
              <a:rPr lang="en-US" sz="3600" dirty="0"/>
              <a:t>accessories/peripherals/devices - Properties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3" y="715743"/>
            <a:ext cx="8228012" cy="3913407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Communication protocol </a:t>
            </a:r>
            <a:r>
              <a:rPr lang="en-US" sz="1400" b="1" u="sng" dirty="0"/>
              <a:t>voltage level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Voltage supply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Power consumption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Band Width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SW Driver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Interrupt driven or polling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Timing specifications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Setup, hold and the alike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Max frequency (when relevant)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Protocol 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Type (UART, SPI, I2C, Etc.)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Sync – meaning using clock (limited frequency) or sync signals 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A-Sync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Data assurance\protection using (parity, ECC, CRC etc.)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9405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6783"/>
          </a:xfrm>
        </p:spPr>
        <p:txBody>
          <a:bodyPr/>
          <a:lstStyle/>
          <a:p>
            <a:r>
              <a:rPr lang="en-US" sz="3600" dirty="0"/>
              <a:t>Basic communication protocols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3" y="715743"/>
            <a:ext cx="8228012" cy="3913407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Devices can be connected physically by copper wires or over the air (Wi-Fi, Bluetooth, LoRa)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There are various communication protocols, some are standard, and some are unique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Simple protocols: (Low to medium speed and bandwidth)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I2C (Two wires – data and clock) (100 or 400 </a:t>
            </a:r>
            <a:r>
              <a:rPr lang="en-US" sz="1400" dirty="0" err="1"/>
              <a:t>KHz</a:t>
            </a:r>
            <a:r>
              <a:rPr lang="en-US" sz="1400" dirty="0"/>
              <a:t>) – can serve many devices concurrently 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UART (RS232) (9600 up to 921000 bps) – only one device per interface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SPI - Serial Peripheral Interface (1 – 166 MHz (DDR), data width 1 up to 8 bits) – can serve many devices concurrently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RF (</a:t>
            </a:r>
            <a:r>
              <a:rPr lang="en-US" sz="1400" dirty="0" err="1"/>
              <a:t>LoRa</a:t>
            </a:r>
            <a:r>
              <a:rPr lang="en-US" sz="1400" dirty="0"/>
              <a:t> and more)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Advanced protocols (Medium to very high speed and bandwidth)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Bluetooth 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Wi-Fi: Ethernet – TFTP, UDP,WEB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PCIe (Gen 4 runs at 16GHz 16 bit width)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USB2\3\4 (up to 40GHz)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Thunderbolt  (up to 40GHz)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7720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6783"/>
          </a:xfrm>
        </p:spPr>
        <p:txBody>
          <a:bodyPr/>
          <a:lstStyle/>
          <a:p>
            <a:r>
              <a:rPr lang="en-US" dirty="0"/>
              <a:t>RS232 - UART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3" y="715743"/>
            <a:ext cx="8228012" cy="1387669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Was born in 1960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 the basic mode uses two signals: RX and TX (Receive and Transmit)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Works at speeds from 4800 (bits per second) up to 921000 (usually 115200 is being used)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Both transmitter and receiver must be set at the same baud rate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Works at various voltages (although the standard is +/- 12V)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Used by most of the micro controllers as the main communication port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Today mostly used using USB to UART device (FTDI)</a:t>
            </a:r>
          </a:p>
        </p:txBody>
      </p:sp>
      <p:pic>
        <p:nvPicPr>
          <p:cNvPr id="4098" name="Picture 2" descr="Image result for rs232 waveform cap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397" y="2375865"/>
            <a:ext cx="3989882" cy="258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uart_bu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92" y="2755219"/>
            <a:ext cx="2182574" cy="128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6783"/>
          </a:xfrm>
        </p:spPr>
        <p:txBody>
          <a:bodyPr/>
          <a:lstStyle/>
          <a:p>
            <a:r>
              <a:rPr lang="en-US" dirty="0"/>
              <a:t>Configuration of RS232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3" y="715743"/>
            <a:ext cx="8228012" cy="3786143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Both sides must be set with the same configuration and voltage level*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BAUD rate (speed – 9600, 115200 or any other supported speed)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 parity bit or not (in most cases not used)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Number of stop bits: 1 or 2 (in most cases 1 stop bit)</a:t>
            </a:r>
          </a:p>
        </p:txBody>
      </p:sp>
    </p:spTree>
    <p:extLst>
      <p:ext uri="{BB962C8B-B14F-4D97-AF65-F5344CB8AC3E}">
        <p14:creationId xmlns:p14="http://schemas.microsoft.com/office/powerpoint/2010/main" val="49280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F14C91-4756-4CA7-ADD4-B5EF2AEC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A52FD1-E3E9-4AEC-AC7E-AE6970A7B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1840"/>
          </a:xfrm>
        </p:spPr>
        <p:txBody>
          <a:bodyPr/>
          <a:lstStyle/>
          <a:p>
            <a:r>
              <a:rPr lang="en-US" dirty="0"/>
              <a:t>End to end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001B71-A5A6-4FCC-A794-F055E6E42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987" y="115035"/>
            <a:ext cx="5010212" cy="438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63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A1779D-64CD-4964-945F-7B265BB0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36A4CC-B116-4FDE-8E73-1124E3694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5729"/>
          </a:xfrm>
        </p:spPr>
        <p:txBody>
          <a:bodyPr/>
          <a:lstStyle/>
          <a:p>
            <a:r>
              <a:rPr lang="en-US" dirty="0"/>
              <a:t>I2C Protocol (</a:t>
            </a:r>
            <a:r>
              <a:rPr lang="en-US" b="1" dirty="0"/>
              <a:t>Inter-Integrated Circuit)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32C92-5FAF-4C1B-AE0B-E6401DB683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34518"/>
            <a:ext cx="8228012" cy="3936604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Defined by Philips for variety of simple devices such as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EEPROM, Cameras, simple LCDs, modems, I/O expanders and more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Each family of devices has a unique address prefix (There are some out of spec devices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r>
              <a:rPr lang="en-US" dirty="0"/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Very low </a:t>
            </a:r>
            <a:r>
              <a:rPr lang="en-US" b="1" u="sng" dirty="0"/>
              <a:t>bus </a:t>
            </a:r>
            <a:r>
              <a:rPr lang="en-US" dirty="0"/>
              <a:t>speed </a:t>
            </a:r>
            <a:r>
              <a:rPr lang="en-US" b="1" dirty="0"/>
              <a:t>: </a:t>
            </a:r>
            <a:r>
              <a:rPr lang="en-US" dirty="0"/>
              <a:t>100 – 400 </a:t>
            </a:r>
            <a:r>
              <a:rPr lang="en-US" dirty="0" err="1"/>
              <a:t>KHz</a:t>
            </a:r>
            <a:r>
              <a:rPr lang="en-US" dirty="0"/>
              <a:t> (new devices might support 1 M\bit)</a:t>
            </a:r>
            <a:endParaRPr lang="en-US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Two signals only: SCL (Clock), SDL (Data)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No chip select</a:t>
            </a:r>
            <a:r>
              <a:rPr lang="en-US" dirty="0"/>
              <a:t>, address selectable devices (7 or 10 bit)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Bus topology</a:t>
            </a:r>
            <a:r>
              <a:rPr lang="en-US" dirty="0"/>
              <a:t>: meaning many devices can be connected to the same master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Open drain I/O (Must have pull up resistors, usually 4.7K)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Master and slave topology (Only master can initiate a transaction)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Some device has fixed 4-6 address bits and the rest can be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1EEAD-5D6A-47D3-B9C1-33486ACE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152" y="45269"/>
            <a:ext cx="1177146" cy="128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E016B0-37D8-44FD-88BE-78979AEB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4C4ACA-965F-4F86-A185-37B8D1D4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6715"/>
          </a:xfrm>
        </p:spPr>
        <p:txBody>
          <a:bodyPr/>
          <a:lstStyle/>
          <a:p>
            <a:r>
              <a:rPr lang="en-US" dirty="0"/>
              <a:t>I2C wave form</a:t>
            </a:r>
          </a:p>
        </p:txBody>
      </p:sp>
      <p:pic>
        <p:nvPicPr>
          <p:cNvPr id="1026" name="Picture 2" descr="I2C Signals - Rheingold HeavyRheingold Heavy">
            <a:extLst>
              <a:ext uri="{FF2B5EF4-FFF2-40B4-BE49-F238E27FC236}">
                <a16:creationId xmlns:a16="http://schemas.microsoft.com/office/drawing/2014/main" id="{A945A864-3A08-4F28-BA79-08AD273D2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60" y="823663"/>
            <a:ext cx="7746917" cy="149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7 bit 8 bit and 10 bit I2C Slave Addressing - Total Phase">
            <a:extLst>
              <a:ext uri="{FF2B5EF4-FFF2-40B4-BE49-F238E27FC236}">
                <a16:creationId xmlns:a16="http://schemas.microsoft.com/office/drawing/2014/main" id="{04C59835-FECD-4F46-9EFE-99AA50EAB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60" y="2445943"/>
            <a:ext cx="44958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B1DF8A7-E744-493A-8FB7-E67519F5D0B8}"/>
              </a:ext>
            </a:extLst>
          </p:cNvPr>
          <p:cNvSpPr/>
          <p:nvPr/>
        </p:nvSpPr>
        <p:spPr>
          <a:xfrm>
            <a:off x="806471" y="3390775"/>
            <a:ext cx="929390" cy="713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F879BB-AB60-4E81-B793-B59383B56C2F}"/>
              </a:ext>
            </a:extLst>
          </p:cNvPr>
          <p:cNvSpPr/>
          <p:nvPr/>
        </p:nvSpPr>
        <p:spPr>
          <a:xfrm>
            <a:off x="2545329" y="4104307"/>
            <a:ext cx="1211205" cy="56962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Slave 1</a:t>
            </a:r>
          </a:p>
          <a:p>
            <a:pPr algn="ctr"/>
            <a:r>
              <a:rPr lang="en-US" sz="1200" dirty="0"/>
              <a:t>Address: 0x20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A31CF3-61C8-43F0-B110-D9919364137A}"/>
              </a:ext>
            </a:extLst>
          </p:cNvPr>
          <p:cNvSpPr/>
          <p:nvPr/>
        </p:nvSpPr>
        <p:spPr>
          <a:xfrm>
            <a:off x="4026358" y="4104307"/>
            <a:ext cx="1211205" cy="56962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Slave 1</a:t>
            </a:r>
          </a:p>
          <a:p>
            <a:pPr algn="ctr"/>
            <a:r>
              <a:rPr lang="en-US" sz="1200" dirty="0"/>
              <a:t>Address: 0x38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9F023E-C29B-452B-9182-E588C951D36D}"/>
              </a:ext>
            </a:extLst>
          </p:cNvPr>
          <p:cNvCxnSpPr/>
          <p:nvPr/>
        </p:nvCxnSpPr>
        <p:spPr>
          <a:xfrm>
            <a:off x="1735861" y="3582649"/>
            <a:ext cx="3573655" cy="0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2435A0-351D-46B6-8D4B-B48A02CB6309}"/>
              </a:ext>
            </a:extLst>
          </p:cNvPr>
          <p:cNvCxnSpPr>
            <a:stCxn id="5" idx="3"/>
          </p:cNvCxnSpPr>
          <p:nvPr/>
        </p:nvCxnSpPr>
        <p:spPr>
          <a:xfrm>
            <a:off x="1735861" y="3747541"/>
            <a:ext cx="3573655" cy="0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5E2DFC-85E2-43EE-8E82-80028FA2039B}"/>
              </a:ext>
            </a:extLst>
          </p:cNvPr>
          <p:cNvSpPr txBox="1"/>
          <p:nvPr/>
        </p:nvSpPr>
        <p:spPr>
          <a:xfrm>
            <a:off x="2581306" y="3390775"/>
            <a:ext cx="467693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SCL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2E30C8-36ED-4579-94ED-439F7EA361F1}"/>
              </a:ext>
            </a:extLst>
          </p:cNvPr>
          <p:cNvSpPr txBox="1"/>
          <p:nvPr/>
        </p:nvSpPr>
        <p:spPr>
          <a:xfrm>
            <a:off x="2857125" y="3591643"/>
            <a:ext cx="431717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SDA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FC6DC0-0E34-40BC-ABB7-1D10976A073E}"/>
              </a:ext>
            </a:extLst>
          </p:cNvPr>
          <p:cNvCxnSpPr/>
          <p:nvPr/>
        </p:nvCxnSpPr>
        <p:spPr>
          <a:xfrm>
            <a:off x="2784460" y="3760920"/>
            <a:ext cx="0" cy="343387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723DD4-53D9-4B73-82D1-7E054309D25D}"/>
              </a:ext>
            </a:extLst>
          </p:cNvPr>
          <p:cNvCxnSpPr>
            <a:stCxn id="15" idx="3"/>
            <a:endCxn id="15" idx="3"/>
          </p:cNvCxnSpPr>
          <p:nvPr/>
        </p:nvCxnSpPr>
        <p:spPr>
          <a:xfrm>
            <a:off x="3288842" y="3676282"/>
            <a:ext cx="0" cy="0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C0A937-731E-462F-A134-A5FA5274E075}"/>
              </a:ext>
            </a:extLst>
          </p:cNvPr>
          <p:cNvCxnSpPr/>
          <p:nvPr/>
        </p:nvCxnSpPr>
        <p:spPr>
          <a:xfrm>
            <a:off x="3390775" y="3591643"/>
            <a:ext cx="0" cy="512664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3C8637-C603-4E6D-9AB8-050678BC8CB0}"/>
              </a:ext>
            </a:extLst>
          </p:cNvPr>
          <p:cNvCxnSpPr/>
          <p:nvPr/>
        </p:nvCxnSpPr>
        <p:spPr>
          <a:xfrm>
            <a:off x="4335155" y="3747541"/>
            <a:ext cx="0" cy="356766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A1CA1F9-6959-40CD-9064-D968E533C3E6}"/>
              </a:ext>
            </a:extLst>
          </p:cNvPr>
          <p:cNvCxnSpPr/>
          <p:nvPr/>
        </p:nvCxnSpPr>
        <p:spPr>
          <a:xfrm>
            <a:off x="4570413" y="3582649"/>
            <a:ext cx="0" cy="521658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56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7C99D-4D75-4D0C-B9BB-D6BAD25F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41532A-B37B-4FE7-9DFF-14A8F8C9E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696"/>
          </a:xfrm>
        </p:spPr>
        <p:txBody>
          <a:bodyPr/>
          <a:lstStyle/>
          <a:p>
            <a:r>
              <a:rPr lang="en-US" dirty="0"/>
              <a:t>I2C multiple Read\Write</a:t>
            </a:r>
          </a:p>
        </p:txBody>
      </p:sp>
      <p:pic>
        <p:nvPicPr>
          <p:cNvPr id="1026" name="Picture 2" descr="Learn.Digilentinc | Project 8: chipKIT™ Pro and Serial Communications">
            <a:extLst>
              <a:ext uri="{FF2B5EF4-FFF2-40B4-BE49-F238E27FC236}">
                <a16:creationId xmlns:a16="http://schemas.microsoft.com/office/drawing/2014/main" id="{7CFA653D-7664-418F-8A46-56B80F643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743075"/>
            <a:ext cx="848677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F1A717-4492-4043-B4B6-FFD5FFDA745F}"/>
              </a:ext>
            </a:extLst>
          </p:cNvPr>
          <p:cNvSpPr txBox="1"/>
          <p:nvPr/>
        </p:nvSpPr>
        <p:spPr>
          <a:xfrm>
            <a:off x="3168922" y="1134671"/>
            <a:ext cx="728522" cy="1692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No stop bit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A95722-78C6-464B-B125-91588B66D081}"/>
              </a:ext>
            </a:extLst>
          </p:cNvPr>
          <p:cNvCxnSpPr/>
          <p:nvPr/>
        </p:nvCxnSpPr>
        <p:spPr>
          <a:xfrm>
            <a:off x="3533183" y="1391087"/>
            <a:ext cx="0" cy="127116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1EDECF-72E0-4CD3-AE14-7D1EAE4815AB}"/>
              </a:ext>
            </a:extLst>
          </p:cNvPr>
          <p:cNvCxnSpPr/>
          <p:nvPr/>
        </p:nvCxnSpPr>
        <p:spPr>
          <a:xfrm>
            <a:off x="3642610" y="1391087"/>
            <a:ext cx="2158583" cy="131913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48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D10318-ADA8-E5AA-9A9B-22A3FF5A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E532E0-75FA-5699-0926-FB46DEEAD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870" y="45269"/>
            <a:ext cx="6231399" cy="2144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DF3819-932E-3899-343B-15EE0A70F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17" y="2491675"/>
            <a:ext cx="8826366" cy="214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4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6783"/>
          </a:xfrm>
        </p:spPr>
        <p:txBody>
          <a:bodyPr/>
          <a:lstStyle/>
          <a:p>
            <a:r>
              <a:rPr lang="en-US" dirty="0"/>
              <a:t>I2C Code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732FC-965C-482A-85FA-2CBCD4CFF41C}"/>
              </a:ext>
            </a:extLst>
          </p:cNvPr>
          <p:cNvSpPr txBox="1"/>
          <p:nvPr/>
        </p:nvSpPr>
        <p:spPr>
          <a:xfrm>
            <a:off x="485681" y="746510"/>
            <a:ext cx="6967429" cy="24006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dirty="0" err="1"/>
              <a:t>Wire.begin</a:t>
            </a:r>
            <a:r>
              <a:rPr lang="en-US" sz="1200" dirty="0"/>
              <a:t>(-1</a:t>
            </a:r>
            <a:r>
              <a:rPr lang="en-US" sz="1200" dirty="0">
                <a:solidFill>
                  <a:srgbClr val="FFC000"/>
                </a:solidFill>
              </a:rPr>
              <a:t>/*Native SCL Pin*/</a:t>
            </a:r>
            <a:r>
              <a:rPr lang="en-US" sz="1200" dirty="0"/>
              <a:t>, -1</a:t>
            </a:r>
            <a:r>
              <a:rPr lang="en-US" sz="1200" dirty="0">
                <a:solidFill>
                  <a:srgbClr val="FFC000"/>
                </a:solidFill>
              </a:rPr>
              <a:t>/* Native SDA Pin*/</a:t>
            </a:r>
            <a:r>
              <a:rPr lang="en-US" sz="1200" dirty="0"/>
              <a:t>, 100000);</a:t>
            </a:r>
          </a:p>
          <a:p>
            <a:endParaRPr lang="en-US" sz="1200" dirty="0">
              <a:solidFill>
                <a:srgbClr val="003C71"/>
              </a:solidFill>
            </a:endParaRPr>
          </a:p>
          <a:p>
            <a:r>
              <a:rPr lang="en-US" sz="1200" dirty="0">
                <a:solidFill>
                  <a:srgbClr val="003C71"/>
                </a:solidFill>
              </a:rPr>
              <a:t>// Read</a:t>
            </a:r>
          </a:p>
          <a:p>
            <a:r>
              <a:rPr lang="en-US" sz="1200" b="1" dirty="0" err="1"/>
              <a:t>Wire.requestFrom</a:t>
            </a:r>
            <a:r>
              <a:rPr lang="en-US" sz="1200" dirty="0"/>
              <a:t>(address,(uint8_t)1</a:t>
            </a:r>
            <a:r>
              <a:rPr lang="en-US" sz="1200" dirty="0">
                <a:solidFill>
                  <a:srgbClr val="FFC000"/>
                </a:solidFill>
              </a:rPr>
              <a:t>/*Size*/</a:t>
            </a:r>
            <a:r>
              <a:rPr lang="en-US" sz="1200" dirty="0"/>
              <a:t>);</a:t>
            </a:r>
          </a:p>
          <a:p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200" dirty="0"/>
              <a:t>(</a:t>
            </a:r>
            <a:r>
              <a:rPr lang="en-US" sz="1200" b="1" dirty="0" err="1"/>
              <a:t>Wire.available</a:t>
            </a:r>
            <a:r>
              <a:rPr lang="en-US" sz="1200" b="1" dirty="0"/>
              <a:t>()</a:t>
            </a:r>
            <a:r>
              <a:rPr lang="en-US" sz="1200" dirty="0"/>
              <a:t>)   </a:t>
            </a:r>
            <a:r>
              <a:rPr lang="en-US" sz="1200" dirty="0">
                <a:solidFill>
                  <a:srgbClr val="FFC000"/>
                </a:solidFill>
              </a:rPr>
              <a:t>// If bytes are available to be received</a:t>
            </a:r>
          </a:p>
          <a:p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1200" dirty="0"/>
              <a:t>	byte </a:t>
            </a:r>
            <a:r>
              <a:rPr lang="en-US" sz="1200" dirty="0" err="1"/>
              <a:t>dataIn</a:t>
            </a:r>
            <a:r>
              <a:rPr lang="en-US" sz="1200" dirty="0"/>
              <a:t> = </a:t>
            </a:r>
            <a:r>
              <a:rPr lang="en-US" sz="1200" dirty="0" err="1"/>
              <a:t>Wire.read</a:t>
            </a:r>
            <a:r>
              <a:rPr lang="en-US" sz="1200" dirty="0"/>
              <a:t>();</a:t>
            </a:r>
          </a:p>
          <a:p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</a:p>
          <a:p>
            <a:endParaRPr lang="en-US" sz="1200" dirty="0">
              <a:solidFill>
                <a:srgbClr val="003C71"/>
              </a:solidFill>
            </a:endParaRPr>
          </a:p>
          <a:p>
            <a:r>
              <a:rPr lang="en-US" sz="1200" dirty="0">
                <a:solidFill>
                  <a:srgbClr val="003C71"/>
                </a:solidFill>
              </a:rPr>
              <a:t>// Write</a:t>
            </a:r>
          </a:p>
          <a:p>
            <a:r>
              <a:rPr lang="en-US" sz="1200" b="1" dirty="0" err="1"/>
              <a:t>Wire.beginTransmission</a:t>
            </a:r>
            <a:r>
              <a:rPr lang="en-US" sz="1200" dirty="0"/>
              <a:t>(address);</a:t>
            </a:r>
          </a:p>
          <a:p>
            <a:r>
              <a:rPr lang="en-US" sz="1200" b="1" dirty="0" err="1"/>
              <a:t>Wire.write</a:t>
            </a:r>
            <a:r>
              <a:rPr lang="en-US" sz="1200" dirty="0"/>
              <a:t>(data);</a:t>
            </a:r>
          </a:p>
          <a:p>
            <a:r>
              <a:rPr lang="en-US" sz="1200" b="1" dirty="0" err="1"/>
              <a:t>Wire.endTransmission</a:t>
            </a:r>
            <a:r>
              <a:rPr lang="en-US" sz="1200" dirty="0"/>
              <a:t>();</a:t>
            </a:r>
            <a:endParaRPr lang="en-US" sz="1200" dirty="0">
              <a:solidFill>
                <a:srgbClr val="003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27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43017F-3BBA-43D5-8711-D648F483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156442-B946-4E3D-A860-B878A9F7E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308847"/>
            <a:ext cx="8229600" cy="392692"/>
          </a:xfrm>
        </p:spPr>
        <p:txBody>
          <a:bodyPr/>
          <a:lstStyle/>
          <a:p>
            <a:r>
              <a:rPr lang="en-US" dirty="0"/>
              <a:t>SPI - Serial Peripheral Interface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621E1-570D-4239-8834-A7BC5BF2D4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01541"/>
            <a:ext cx="8228012" cy="392761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Much higher performance than UART or I2C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1 bit data (MOSI, MISO, CLOCK, CS)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</a:t>
            </a:r>
            <a:r>
              <a:rPr lang="en-US" dirty="0"/>
              <a:t>aster </a:t>
            </a:r>
            <a:r>
              <a:rPr lang="en-US" b="1" dirty="0"/>
              <a:t>O</a:t>
            </a:r>
            <a:r>
              <a:rPr lang="en-US" dirty="0"/>
              <a:t>ut </a:t>
            </a:r>
            <a:r>
              <a:rPr lang="en-US" b="1" dirty="0"/>
              <a:t>S</a:t>
            </a:r>
            <a:r>
              <a:rPr lang="en-US" dirty="0"/>
              <a:t>lave </a:t>
            </a:r>
            <a:r>
              <a:rPr lang="en-US" b="1" dirty="0"/>
              <a:t>I</a:t>
            </a:r>
            <a:r>
              <a:rPr lang="en-US" dirty="0"/>
              <a:t>n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</a:t>
            </a:r>
            <a:r>
              <a:rPr lang="en-US" dirty="0"/>
              <a:t>aster </a:t>
            </a:r>
            <a:r>
              <a:rPr lang="en-US" b="1" dirty="0"/>
              <a:t>I</a:t>
            </a:r>
            <a:r>
              <a:rPr lang="en-US" dirty="0"/>
              <a:t>n </a:t>
            </a:r>
            <a:r>
              <a:rPr lang="en-US" b="1" dirty="0"/>
              <a:t>S</a:t>
            </a:r>
            <a:r>
              <a:rPr lang="en-US" dirty="0"/>
              <a:t>lave </a:t>
            </a:r>
            <a:r>
              <a:rPr lang="en-US" b="1" dirty="0"/>
              <a:t>O</a:t>
            </a:r>
            <a:r>
              <a:rPr lang="en-US" dirty="0"/>
              <a:t>ut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4 or 8 bits data (CLOCK, CS, bi-directional D0-D7)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Bus topology – using chip select to address a specific device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Master and slave methodology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Up to 166MHz (DDR)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Mostly used for flash memories, SD cards, simple LCDs, </a:t>
            </a:r>
            <a:r>
              <a:rPr lang="en-US" dirty="0" err="1"/>
              <a:t>LoRa</a:t>
            </a:r>
            <a:r>
              <a:rPr lang="en-US" dirty="0"/>
              <a:t> transmitters and more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CC82185-3248-4A30-AB74-8CFF1F5C6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544" y="224062"/>
            <a:ext cx="33337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60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30F99A-C054-4711-9378-E2B14B12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86CAAF-E767-4631-A7C9-67BAA6805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3698"/>
          </a:xfrm>
        </p:spPr>
        <p:txBody>
          <a:bodyPr/>
          <a:lstStyle/>
          <a:p>
            <a:r>
              <a:rPr lang="en-US" dirty="0"/>
              <a:t>SPI Working modes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6843CC-BD75-4890-987F-5EBF8105C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256028"/>
              </p:ext>
            </p:extLst>
          </p:nvPr>
        </p:nvGraphicFramePr>
        <p:xfrm>
          <a:off x="975249" y="797945"/>
          <a:ext cx="3109278" cy="1937296"/>
        </p:xfrm>
        <a:graphic>
          <a:graphicData uri="http://schemas.openxmlformats.org/drawingml/2006/table">
            <a:tbl>
              <a:tblPr/>
              <a:tblGrid>
                <a:gridCol w="881380">
                  <a:extLst>
                    <a:ext uri="{9D8B030D-6E8A-4147-A177-3AD203B41FA5}">
                      <a16:colId xmlns:a16="http://schemas.microsoft.com/office/drawing/2014/main" val="2697778721"/>
                    </a:ext>
                  </a:extLst>
                </a:gridCol>
                <a:gridCol w="1171893">
                  <a:extLst>
                    <a:ext uri="{9D8B030D-6E8A-4147-A177-3AD203B41FA5}">
                      <a16:colId xmlns:a16="http://schemas.microsoft.com/office/drawing/2014/main" val="968698595"/>
                    </a:ext>
                  </a:extLst>
                </a:gridCol>
                <a:gridCol w="1056005">
                  <a:extLst>
                    <a:ext uri="{9D8B030D-6E8A-4147-A177-3AD203B41FA5}">
                      <a16:colId xmlns:a16="http://schemas.microsoft.com/office/drawing/2014/main" val="853219233"/>
                    </a:ext>
                  </a:extLst>
                </a:gridCol>
              </a:tblGrid>
              <a:tr h="58961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SPI mode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Clock polarity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(CPOL/CKP)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Clock phase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(CPHA)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201909"/>
                  </a:ext>
                </a:extLst>
              </a:tr>
              <a:tr h="33692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98922"/>
                  </a:ext>
                </a:extLst>
              </a:tr>
              <a:tr h="33692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265070"/>
                  </a:ext>
                </a:extLst>
              </a:tr>
              <a:tr h="33692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091926"/>
                  </a:ext>
                </a:extLst>
              </a:tr>
              <a:tr h="33692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966211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3F00D288-9530-4163-BFF6-1C076696B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40" y="2143510"/>
            <a:ext cx="1804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6794D2-890C-4BF2-AFA8-3EDF971FF185}"/>
              </a:ext>
            </a:extLst>
          </p:cNvPr>
          <p:cNvSpPr txBox="1"/>
          <p:nvPr/>
        </p:nvSpPr>
        <p:spPr>
          <a:xfrm>
            <a:off x="975249" y="3007027"/>
            <a:ext cx="6477861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dirty="0"/>
              <a:t>CPOL</a:t>
            </a:r>
            <a:r>
              <a:rPr lang="en-US" dirty="0"/>
              <a:t> - Clock polarity</a:t>
            </a:r>
          </a:p>
          <a:p>
            <a:r>
              <a:rPr lang="en-US" b="1" dirty="0"/>
              <a:t>CPHA</a:t>
            </a:r>
            <a:r>
              <a:rPr lang="en-US" dirty="0"/>
              <a:t> - Clock phase</a:t>
            </a:r>
          </a:p>
          <a:p>
            <a:r>
              <a:rPr lang="en-US" sz="1100" dirty="0">
                <a:solidFill>
                  <a:srgbClr val="003C71"/>
                </a:solidFill>
              </a:rPr>
              <a:t>Meant for better timing setup</a:t>
            </a:r>
          </a:p>
        </p:txBody>
      </p:sp>
      <p:pic>
        <p:nvPicPr>
          <p:cNvPr id="3081" name="Picture 9" descr="1 21 - SPI Tutorial">
            <a:extLst>
              <a:ext uri="{FF2B5EF4-FFF2-40B4-BE49-F238E27FC236}">
                <a16:creationId xmlns:a16="http://schemas.microsoft.com/office/drawing/2014/main" id="{DAA69ED9-6B20-4529-8113-8B491BF8F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145" y="758608"/>
            <a:ext cx="4001207" cy="2015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55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A4077-5CD5-46D5-8F51-E4A02DE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59F0DD-1922-4431-95AD-33E94CCAA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76" y="241986"/>
            <a:ext cx="8229600" cy="350719"/>
          </a:xfrm>
        </p:spPr>
        <p:txBody>
          <a:bodyPr/>
          <a:lstStyle/>
          <a:p>
            <a:r>
              <a:rPr lang="en-US" dirty="0"/>
              <a:t>Read\Write (From flash memory) – 1 bit </a:t>
            </a:r>
          </a:p>
        </p:txBody>
      </p:sp>
      <p:pic>
        <p:nvPicPr>
          <p:cNvPr id="4100" name="Picture 4" descr="1 51 - SPI Tutorial">
            <a:extLst>
              <a:ext uri="{FF2B5EF4-FFF2-40B4-BE49-F238E27FC236}">
                <a16:creationId xmlns:a16="http://schemas.microsoft.com/office/drawing/2014/main" id="{67B6EBBA-DC2A-465C-8C3C-162A17EDC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026" y="630913"/>
            <a:ext cx="5096464" cy="201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1 61 - SPI Tutorial">
            <a:extLst>
              <a:ext uri="{FF2B5EF4-FFF2-40B4-BE49-F238E27FC236}">
                <a16:creationId xmlns:a16="http://schemas.microsoft.com/office/drawing/2014/main" id="{6404537F-F558-4335-8584-8B79C082B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026" y="2724848"/>
            <a:ext cx="5065901" cy="2023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5461D6-9DD2-4DE8-84AF-E201563E7B6A}"/>
              </a:ext>
            </a:extLst>
          </p:cNvPr>
          <p:cNvCxnSpPr/>
          <p:nvPr/>
        </p:nvCxnSpPr>
        <p:spPr>
          <a:xfrm flipH="1">
            <a:off x="4125293" y="2368446"/>
            <a:ext cx="3618626" cy="14900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0DF4A12-339A-4D59-97AA-E97928088FFC}"/>
              </a:ext>
            </a:extLst>
          </p:cNvPr>
          <p:cNvSpPr txBox="1"/>
          <p:nvPr/>
        </p:nvSpPr>
        <p:spPr>
          <a:xfrm>
            <a:off x="7797883" y="2113613"/>
            <a:ext cx="1040318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Dummy cycles</a:t>
            </a:r>
          </a:p>
          <a:p>
            <a:r>
              <a:rPr lang="en-US" sz="1100" dirty="0">
                <a:solidFill>
                  <a:srgbClr val="003C71"/>
                </a:solidFill>
              </a:rPr>
              <a:t>Are optional</a:t>
            </a:r>
          </a:p>
        </p:txBody>
      </p:sp>
    </p:spTree>
    <p:extLst>
      <p:ext uri="{BB962C8B-B14F-4D97-AF65-F5344CB8AC3E}">
        <p14:creationId xmlns:p14="http://schemas.microsoft.com/office/powerpoint/2010/main" val="180246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C4EED3-2E9D-4470-ABAD-16235184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968990-66F8-43DA-8795-A57F3A13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92692"/>
          </a:xfrm>
        </p:spPr>
        <p:txBody>
          <a:bodyPr/>
          <a:lstStyle/>
          <a:p>
            <a:r>
              <a:rPr lang="en-US" dirty="0"/>
              <a:t>Read\Write (From flash memory) – 4 bit</a:t>
            </a:r>
          </a:p>
        </p:txBody>
      </p:sp>
      <p:pic>
        <p:nvPicPr>
          <p:cNvPr id="2050" name="Picture 2" descr="SPI Tutorial – Serial Peripheral Interface Bus Protocol Basics">
            <a:extLst>
              <a:ext uri="{FF2B5EF4-FFF2-40B4-BE49-F238E27FC236}">
                <a16:creationId xmlns:a16="http://schemas.microsoft.com/office/drawing/2014/main" id="{0A370201-7003-41E4-A06A-0256E5EE0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966788"/>
            <a:ext cx="5981700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16E632-B10F-42CE-ABA5-D021EE9BB0A2}"/>
              </a:ext>
            </a:extLst>
          </p:cNvPr>
          <p:cNvSpPr txBox="1"/>
          <p:nvPr/>
        </p:nvSpPr>
        <p:spPr>
          <a:xfrm>
            <a:off x="5945099" y="203866"/>
            <a:ext cx="1720871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dirty="0">
                <a:solidFill>
                  <a:srgbClr val="003C71"/>
                </a:solidFill>
              </a:rPr>
              <a:t>Dummy cycles to enable</a:t>
            </a:r>
          </a:p>
          <a:p>
            <a:pPr algn="ctr"/>
            <a:r>
              <a:rPr lang="en-US" sz="1100" dirty="0">
                <a:solidFill>
                  <a:srgbClr val="003C71"/>
                </a:solidFill>
              </a:rPr>
              <a:t>I/O direction change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9E19BF3-3B72-4133-B459-5EB9C0D21845}"/>
              </a:ext>
            </a:extLst>
          </p:cNvPr>
          <p:cNvCxnSpPr/>
          <p:nvPr/>
        </p:nvCxnSpPr>
        <p:spPr>
          <a:xfrm flipH="1">
            <a:off x="5825178" y="632585"/>
            <a:ext cx="980356" cy="157396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71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14D1E2-AE12-44E4-B910-6FF3493E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DDD8DB-F75F-469F-AFE3-25933395E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7702"/>
          </a:xfrm>
        </p:spPr>
        <p:txBody>
          <a:bodyPr/>
          <a:lstStyle/>
          <a:p>
            <a:r>
              <a:rPr lang="en-US" dirty="0"/>
              <a:t>ESP32’s Communication ports units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E39C8-9C45-479E-BAF9-9ADA815677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2527"/>
            <a:ext cx="8228012" cy="3906624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3 UARTs (first is the main and used for communication with the user and uploading code)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Up to 1 MHz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Can be mapped on almost any I/O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3 SPI (first used for main flash and PSRAM and is 4 bit wide)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Up to 80 MHz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1 Bit wide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Can be mapped on almost any I/O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One I2C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I2S – Audio dedicated protocol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Also used along with GPIO and DAC to generate very interesting projects</a:t>
            </a:r>
          </a:p>
        </p:txBody>
      </p:sp>
    </p:spTree>
    <p:extLst>
      <p:ext uri="{BB962C8B-B14F-4D97-AF65-F5344CB8AC3E}">
        <p14:creationId xmlns:p14="http://schemas.microsoft.com/office/powerpoint/2010/main" val="219737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6783"/>
          </a:xfrm>
        </p:spPr>
        <p:txBody>
          <a:bodyPr/>
          <a:lstStyle/>
          <a:p>
            <a:r>
              <a:rPr lang="en-US" sz="3600" dirty="0"/>
              <a:t>Available accessories/peripherals/devices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3" y="715743"/>
            <a:ext cx="8228012" cy="3913407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Sensors</a:t>
            </a:r>
            <a:r>
              <a:rPr lang="en-US" sz="1400" dirty="0"/>
              <a:t>: Motion, distance, temperature, color, light, smoke, gas, humidity and more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Input</a:t>
            </a:r>
            <a:r>
              <a:rPr lang="en-US" sz="1400" dirty="0"/>
              <a:t>: Potentiometers, simple on\off buttons, touch devices, analog joy sticks and more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Displays</a:t>
            </a:r>
            <a:r>
              <a:rPr lang="en-US" sz="1400" dirty="0"/>
              <a:t>: LCD and LED matrix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Storage</a:t>
            </a:r>
            <a:r>
              <a:rPr lang="en-US" sz="1400" dirty="0"/>
              <a:t>: Flash memory, SD cards, I2C EEPROM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Servo and DC motors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Physical and solid state relays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Infrared transmitters and receivers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RF based I/O and </a:t>
            </a:r>
            <a:r>
              <a:rPr lang="en-US" sz="1400" dirty="0" err="1"/>
              <a:t>LoRa</a:t>
            </a:r>
            <a:endParaRPr lang="en-US" sz="140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Battery chargers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RTC (Real time clock)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GPS, accelerometers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3G modem with SIM card supporting calls and SMS send\receive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Fingerprint sensor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Just search the web and you will be amazed by what is out there!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2296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5B576A-DD54-44A4-9952-7A97384E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2B5701-32D1-4BB6-9084-410C38BE7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65709"/>
          </a:xfrm>
        </p:spPr>
        <p:txBody>
          <a:bodyPr/>
          <a:lstStyle/>
          <a:p>
            <a:r>
              <a:rPr lang="en-US" dirty="0"/>
              <a:t>Block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790AB6-D466-4707-886C-F2F93D32F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044" y="24283"/>
            <a:ext cx="5887988" cy="46782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EE2284-F073-4756-A365-35B53F5DB3C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6403" y="674557"/>
            <a:ext cx="3542865" cy="29336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FA9BC5-745D-4F05-9634-C2825D0C8DD9}"/>
              </a:ext>
            </a:extLst>
          </p:cNvPr>
          <p:cNvCxnSpPr/>
          <p:nvPr/>
        </p:nvCxnSpPr>
        <p:spPr>
          <a:xfrm flipH="1" flipV="1">
            <a:off x="2293495" y="2431405"/>
            <a:ext cx="2014678" cy="128615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1059" y="2108062"/>
            <a:ext cx="5776954" cy="1021556"/>
          </a:xfrm>
        </p:spPr>
        <p:txBody>
          <a:bodyPr/>
          <a:lstStyle/>
          <a:p>
            <a:r>
              <a:rPr lang="en-US" dirty="0"/>
              <a:t>Getting started …</a:t>
            </a:r>
          </a:p>
        </p:txBody>
      </p:sp>
    </p:spTree>
    <p:extLst>
      <p:ext uri="{BB962C8B-B14F-4D97-AF65-F5344CB8AC3E}">
        <p14:creationId xmlns:p14="http://schemas.microsoft.com/office/powerpoint/2010/main" val="406971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lash/>
      </p:transition>
    </mc:Choice>
    <mc:Fallback xmlns="">
      <p:transition spd="slow" advClick="0" advTm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6783"/>
          </a:xfrm>
        </p:spPr>
        <p:txBody>
          <a:bodyPr/>
          <a:lstStyle/>
          <a:p>
            <a:r>
              <a:rPr lang="en-US" dirty="0"/>
              <a:t>What to watch out when selecting a device?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3" y="715743"/>
            <a:ext cx="8228012" cy="4008170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Communication protocol used by the device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We have a free interface resource (SPI, UART and Etc.)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Software driver availability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Communication channel is compatible with our MC and has no BW limitations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Voltage levels are compatible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Make sure I/</a:t>
            </a:r>
            <a:r>
              <a:rPr lang="en-US" sz="1400" dirty="0" err="1"/>
              <a:t>Os</a:t>
            </a:r>
            <a:r>
              <a:rPr lang="en-US" sz="1400" dirty="0"/>
              <a:t> we have chosen are not dedicated for boot strap options of the MC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ESP32: </a:t>
            </a:r>
          </a:p>
          <a:p>
            <a:pPr marL="742950" lvl="2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IO12 must not be pulled up, </a:t>
            </a:r>
            <a:r>
              <a:rPr lang="en-US" sz="1400" b="1" dirty="0"/>
              <a:t>do not use as input</a:t>
            </a:r>
            <a:r>
              <a:rPr lang="en-US" sz="1400" dirty="0"/>
              <a:t>!</a:t>
            </a:r>
          </a:p>
          <a:p>
            <a:pPr marL="742950" lvl="2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IO2 – If pulled high will block loading new sketch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When using I2C devices: check there is no address conflict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Are there signals which requires a pull up \ down (in most cases open drain)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969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15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497F966E-8469-4AF9-BF35-3D3A7641C986}"/>
    </a:ext>
  </a:extLst>
</a:theme>
</file>

<file path=ppt/theme/theme2.xml><?xml version="1.0" encoding="utf-8"?>
<a:theme xmlns:a="http://schemas.openxmlformats.org/drawingml/2006/main" name="1_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E2EF9F45-09E2-46BE-BF2F-0219EF15023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2h2018-hpc-event-playbook-powerpoint-template</Template>
  <TotalTime>0</TotalTime>
  <Words>1640</Words>
  <Application>Microsoft Office PowerPoint</Application>
  <PresentationFormat>On-screen Show (16:9)</PresentationFormat>
  <Paragraphs>289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Intel Clear</vt:lpstr>
      <vt:lpstr>Intel Clear Pro</vt:lpstr>
      <vt:lpstr>Wingdings</vt:lpstr>
      <vt:lpstr>Int_PPT Template_ClearPro_16x9</vt:lpstr>
      <vt:lpstr>1_Int_PPT Template_ClearPro_16x9</vt:lpstr>
      <vt:lpstr>ESP32 Based Arduino Course  by intel’s makers community</vt:lpstr>
      <vt:lpstr>PowerPoint Presentation</vt:lpstr>
      <vt:lpstr>Expectations:</vt:lpstr>
      <vt:lpstr>targets:</vt:lpstr>
      <vt:lpstr>agenda:</vt:lpstr>
      <vt:lpstr>Course agenda:</vt:lpstr>
      <vt:lpstr>PC\laptop structure</vt:lpstr>
      <vt:lpstr>What is a micro controller? </vt:lpstr>
      <vt:lpstr>General Block diagram</vt:lpstr>
      <vt:lpstr>ESP32 block diagram</vt:lpstr>
      <vt:lpstr>Communication ports are meant for:</vt:lpstr>
      <vt:lpstr>More about the ESP32</vt:lpstr>
      <vt:lpstr>More about the esp32</vt:lpstr>
      <vt:lpstr>Some ESP32 projects…</vt:lpstr>
      <vt:lpstr>accessories/peripherals/devices - Properties </vt:lpstr>
      <vt:lpstr>Basic communication protocols</vt:lpstr>
      <vt:lpstr>RS232 - UART</vt:lpstr>
      <vt:lpstr>Configuration of RS232</vt:lpstr>
      <vt:lpstr>End to end example</vt:lpstr>
      <vt:lpstr>I2C Protocol (Inter-Integrated Circuit)</vt:lpstr>
      <vt:lpstr>I2C wave form</vt:lpstr>
      <vt:lpstr>I2C multiple Read\Write</vt:lpstr>
      <vt:lpstr>PowerPoint Presentation</vt:lpstr>
      <vt:lpstr>I2C Code example</vt:lpstr>
      <vt:lpstr>SPI - Serial Peripheral Interface </vt:lpstr>
      <vt:lpstr>SPI Working modes</vt:lpstr>
      <vt:lpstr>Read\Write (From flash memory) – 1 bit </vt:lpstr>
      <vt:lpstr>Read\Write (From flash memory) – 4 bit</vt:lpstr>
      <vt:lpstr>ESP32’s Communication ports units</vt:lpstr>
      <vt:lpstr>Available accessories/peripherals/devices</vt:lpstr>
      <vt:lpstr>Block diagram</vt:lpstr>
      <vt:lpstr>Getting started …</vt:lpstr>
      <vt:lpstr>What to watch out when selecting a device?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CTPClassification=CTP_NT</cp:keywords>
  <cp:lastModifiedBy/>
  <cp:revision>1</cp:revision>
  <dcterms:created xsi:type="dcterms:W3CDTF">2019-01-09T10:17:12Z</dcterms:created>
  <dcterms:modified xsi:type="dcterms:W3CDTF">2024-08-07T12:14:33Z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8fe81c37-8eff-4c5b-bc02-9bf0e84d8565</vt:lpwstr>
  </property>
  <property fmtid="{D5CDD505-2E9C-101B-9397-08002B2CF9AE}" pid="3" name="CTP_TimeStamp">
    <vt:lpwstr>2020-01-14 06:08:21Z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